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A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1005839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18682" y="83732"/>
            <a:ext cx="1972647" cy="838375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ext 2"/>
          <p:cNvSpPr txBox="1"/>
          <p:nvPr/>
        </p:nvSpPr>
        <p:spPr>
          <a:xfrm>
            <a:off x="-1257411" y="414414"/>
            <a:ext cx="46634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300">
                <a:solidFill>
                  <a:srgbClr val="C89AAF"/>
                </a:solidFill>
              </a:defRPr>
            </a:lvl1pPr>
          </a:lstStyle>
          <a:p>
            <a:pPr/>
            <a:r>
              <a:t>B.Tech CSE (2025-2029) | Semester II | Sprint 2</a:t>
            </a:r>
          </a:p>
        </p:txBody>
      </p:sp>
      <p:sp>
        <p:nvSpPr>
          <p:cNvPr id="23" name="Shape 3"/>
          <p:cNvSpPr/>
          <p:nvPr/>
        </p:nvSpPr>
        <p:spPr>
          <a:xfrm>
            <a:off x="1131735" y="1193849"/>
            <a:ext cx="1645921" cy="1645921"/>
          </a:xfrm>
          <a:prstGeom prst="ellipse">
            <a:avLst/>
          </a:prstGeom>
          <a:solidFill>
            <a:srgbClr val="7B1F3A">
              <a:alpha val="60000"/>
            </a:srgbClr>
          </a:solidFill>
          <a:ln w="25400">
            <a:solidFill>
              <a:srgbClr val="D474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1177455" y="1723439"/>
            <a:ext cx="155448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0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🔥🛡️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2554038" y="1397932"/>
            <a:ext cx="6006425" cy="110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FireGuard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2609256" y="2513550"/>
            <a:ext cx="6006425" cy="362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2100">
                <a:solidFill>
                  <a:srgbClr val="D4748C"/>
                </a:solidFill>
              </a:defRPr>
            </a:lvl1pPr>
          </a:lstStyle>
          <a:p>
            <a:pPr/>
            <a:r>
              <a:t>Cloud Security Packet Filtering System</a:t>
            </a:r>
          </a:p>
        </p:txBody>
      </p:sp>
      <p:sp>
        <p:nvSpPr>
          <p:cNvPr id="27" name="Shape 7"/>
          <p:cNvSpPr/>
          <p:nvPr/>
        </p:nvSpPr>
        <p:spPr>
          <a:xfrm>
            <a:off x="4140200" y="3093720"/>
            <a:ext cx="2743200" cy="320041"/>
          </a:xfrm>
          <a:prstGeom prst="roundRect">
            <a:avLst>
              <a:gd name="adj" fmla="val 14286"/>
            </a:avLst>
          </a:prstGeom>
          <a:solidFill>
            <a:srgbClr val="7B1F3A"/>
          </a:solidFill>
          <a:ln w="12700">
            <a:solidFill>
              <a:srgbClr val="D474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4185919" y="3150039"/>
            <a:ext cx="265176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Case Study No. 75</a:t>
            </a:r>
          </a:p>
        </p:txBody>
      </p:sp>
      <p:sp>
        <p:nvSpPr>
          <p:cNvPr id="29" name="Shape 9"/>
          <p:cNvSpPr/>
          <p:nvPr/>
        </p:nvSpPr>
        <p:spPr>
          <a:xfrm>
            <a:off x="274320" y="3838831"/>
            <a:ext cx="8595360" cy="1236090"/>
          </a:xfrm>
          <a:prstGeom prst="roundRect">
            <a:avLst>
              <a:gd name="adj" fmla="val 3699"/>
            </a:avLst>
          </a:prstGeom>
          <a:solidFill>
            <a:srgbClr val="7B1F3A">
              <a:alpha val="70000"/>
            </a:srgbClr>
          </a:solidFill>
          <a:ln w="12700">
            <a:solidFill>
              <a:srgbClr val="D474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10"/>
          <p:cNvSpPr txBox="1"/>
          <p:nvPr/>
        </p:nvSpPr>
        <p:spPr>
          <a:xfrm>
            <a:off x="320040" y="3934905"/>
            <a:ext cx="8503920" cy="967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700">
                <a:solidFill>
                  <a:srgbClr val="FFFFFF"/>
                </a:solidFill>
              </a:defRPr>
            </a:pPr>
            <a:r>
              <a:t>👩🏻‍💻 Akhila Anish Das</a:t>
            </a:r>
            <a:r>
              <a:rPr b="0">
                <a:solidFill>
                  <a:srgbClr val="E8C0CF"/>
                </a:solidFill>
              </a:rPr>
              <a:t>  </a:t>
            </a:r>
            <a:br>
              <a:rPr b="0">
                <a:solidFill>
                  <a:srgbClr val="E8C0CF"/>
                </a:solidFill>
              </a:rPr>
            </a:br>
            <a:r>
              <a:rPr b="0">
                <a:solidFill>
                  <a:srgbClr val="E8C0CF"/>
                </a:solidFill>
              </a:rPr>
              <a:t>Roll No: 150096725016  Cohort: Larry Page  </a:t>
            </a:r>
            <a:br>
              <a:rPr b="0">
                <a:solidFill>
                  <a:srgbClr val="E8C0CF"/>
                </a:solidFill>
              </a:rPr>
            </a:br>
            <a:r>
              <a:rPr b="0">
                <a:solidFill>
                  <a:srgbClr val="E8C0CF"/>
                </a:solidFill>
              </a:rPr>
              <a:t>Subject: Data Structures &amp; Algorithms with C++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D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"/>
          <p:cNvSpPr txBox="1"/>
          <p:nvPr/>
        </p:nvSpPr>
        <p:spPr>
          <a:xfrm>
            <a:off x="320040" y="139700"/>
            <a:ext cx="722376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⚠️  Problem Statement</a:t>
            </a:r>
          </a:p>
        </p:txBody>
      </p:sp>
      <p:sp>
        <p:nvSpPr>
          <p:cNvPr id="34" name="Text 2"/>
          <p:cNvSpPr txBox="1"/>
          <p:nvPr/>
        </p:nvSpPr>
        <p:spPr>
          <a:xfrm>
            <a:off x="411479" y="945319"/>
            <a:ext cx="832104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4A0F22"/>
                </a:solidFill>
              </a:defRPr>
            </a:lvl1pPr>
          </a:lstStyle>
          <a:p>
            <a:pPr/>
            <a:r>
              <a:t>FireGuard addresses critical gaps in modern cloud firewall systems:</a:t>
            </a:r>
          </a:p>
        </p:txBody>
      </p:sp>
      <p:sp>
        <p:nvSpPr>
          <p:cNvPr id="35" name="Shape 3"/>
          <p:cNvSpPr/>
          <p:nvPr/>
        </p:nvSpPr>
        <p:spPr>
          <a:xfrm>
            <a:off x="274320" y="1371600"/>
            <a:ext cx="420624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C0CF"/>
            </a:solidFill>
          </a:ln>
          <a:effectLst>
            <a:outerShdw sx="100000" sy="100000" kx="0" ky="0" algn="b" rotWithShape="0" blurRad="63500" dist="254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" name="Text 4"/>
          <p:cNvSpPr txBox="1"/>
          <p:nvPr/>
        </p:nvSpPr>
        <p:spPr>
          <a:xfrm>
            <a:off x="411479" y="1569719"/>
            <a:ext cx="50292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🐢</a:t>
            </a:r>
          </a:p>
        </p:txBody>
      </p:sp>
      <p:sp>
        <p:nvSpPr>
          <p:cNvPr id="37" name="Text 5"/>
          <p:cNvSpPr txBox="1"/>
          <p:nvPr/>
        </p:nvSpPr>
        <p:spPr>
          <a:xfrm>
            <a:off x="1005840" y="1439471"/>
            <a:ext cx="32918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7B1F3A"/>
                </a:solidFill>
              </a:defRPr>
            </a:lvl1pPr>
          </a:lstStyle>
          <a:p>
            <a:pPr/>
            <a:r>
              <a:t>Slow Signature Matching</a:t>
            </a:r>
          </a:p>
        </p:txBody>
      </p:sp>
      <p:sp>
        <p:nvSpPr>
          <p:cNvPr id="38" name="Text 6"/>
          <p:cNvSpPr txBox="1"/>
          <p:nvPr/>
        </p:nvSpPr>
        <p:spPr>
          <a:xfrm>
            <a:off x="1005840" y="1750866"/>
            <a:ext cx="32918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2D0A15"/>
                </a:solidFill>
              </a:defRPr>
            </a:lvl1pPr>
          </a:lstStyle>
          <a:p>
            <a:pPr/>
            <a:r>
              <a:t>Existing systems take too long to detect known malicious attack patterns</a:t>
            </a:r>
          </a:p>
        </p:txBody>
      </p:sp>
      <p:sp>
        <p:nvSpPr>
          <p:cNvPr id="39" name="Shape 7"/>
          <p:cNvSpPr/>
          <p:nvPr/>
        </p:nvSpPr>
        <p:spPr>
          <a:xfrm>
            <a:off x="4663440" y="1371600"/>
            <a:ext cx="420624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C0CF"/>
            </a:solidFill>
          </a:ln>
          <a:effectLst>
            <a:outerShdw sx="100000" sy="100000" kx="0" ky="0" algn="b" rotWithShape="0" blurRad="63500" dist="254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" name="Text 8"/>
          <p:cNvSpPr txBox="1"/>
          <p:nvPr/>
        </p:nvSpPr>
        <p:spPr>
          <a:xfrm>
            <a:off x="4800599" y="1569719"/>
            <a:ext cx="50292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📋</a:t>
            </a:r>
          </a:p>
        </p:txBody>
      </p:sp>
      <p:sp>
        <p:nvSpPr>
          <p:cNvPr id="41" name="Text 9"/>
          <p:cNvSpPr txBox="1"/>
          <p:nvPr/>
        </p:nvSpPr>
        <p:spPr>
          <a:xfrm>
            <a:off x="5394960" y="1439471"/>
            <a:ext cx="3291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7B1F3A"/>
                </a:solidFill>
              </a:defRPr>
            </a:lvl1pPr>
          </a:lstStyle>
          <a:p>
            <a:pPr/>
            <a:r>
              <a:t>No Audit Trail</a:t>
            </a:r>
          </a:p>
        </p:txBody>
      </p:sp>
      <p:sp>
        <p:nvSpPr>
          <p:cNvPr id="42" name="Text 10"/>
          <p:cNvSpPr txBox="1"/>
          <p:nvPr/>
        </p:nvSpPr>
        <p:spPr>
          <a:xfrm>
            <a:off x="5394960" y="1833416"/>
            <a:ext cx="32918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2D0A15"/>
                </a:solidFill>
              </a:defRPr>
            </a:lvl1pPr>
          </a:lstStyle>
          <a:p>
            <a:pPr/>
            <a:r>
              <a:t>Security checks cannot be reviewed or reversed after a breach</a:t>
            </a:r>
          </a:p>
        </p:txBody>
      </p:sp>
      <p:sp>
        <p:nvSpPr>
          <p:cNvPr id="43" name="Shape 11"/>
          <p:cNvSpPr/>
          <p:nvPr/>
        </p:nvSpPr>
        <p:spPr>
          <a:xfrm>
            <a:off x="274320" y="2468879"/>
            <a:ext cx="4206241" cy="9144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C0CF"/>
            </a:solidFill>
          </a:ln>
          <a:effectLst>
            <a:outerShdw sx="100000" sy="100000" kx="0" ky="0" algn="b" rotWithShape="0" blurRad="63500" dist="254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" name="Text 12"/>
          <p:cNvSpPr txBox="1"/>
          <p:nvPr/>
        </p:nvSpPr>
        <p:spPr>
          <a:xfrm>
            <a:off x="411479" y="2667000"/>
            <a:ext cx="50292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🔀</a:t>
            </a:r>
          </a:p>
        </p:txBody>
      </p:sp>
      <p:sp>
        <p:nvSpPr>
          <p:cNvPr id="45" name="Text 13"/>
          <p:cNvSpPr txBox="1"/>
          <p:nvPr/>
        </p:nvSpPr>
        <p:spPr>
          <a:xfrm>
            <a:off x="1005840" y="2536751"/>
            <a:ext cx="32918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7B1F3A"/>
                </a:solidFill>
              </a:defRPr>
            </a:lvl1pPr>
          </a:lstStyle>
          <a:p>
            <a:pPr/>
            <a:r>
              <a:t>Unorganized Inspection</a:t>
            </a:r>
          </a:p>
        </p:txBody>
      </p:sp>
      <p:sp>
        <p:nvSpPr>
          <p:cNvPr id="46" name="Text 14"/>
          <p:cNvSpPr txBox="1"/>
          <p:nvPr/>
        </p:nvSpPr>
        <p:spPr>
          <a:xfrm>
            <a:off x="1005840" y="2930696"/>
            <a:ext cx="32918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2D0A15"/>
                </a:solidFill>
              </a:defRPr>
            </a:lvl1pPr>
          </a:lstStyle>
          <a:p>
            <a:pPr/>
            <a:r>
              <a:t>Packets are not processed in strict arrival order</a:t>
            </a:r>
          </a:p>
        </p:txBody>
      </p:sp>
      <p:sp>
        <p:nvSpPr>
          <p:cNvPr id="47" name="Shape 15"/>
          <p:cNvSpPr/>
          <p:nvPr/>
        </p:nvSpPr>
        <p:spPr>
          <a:xfrm>
            <a:off x="4663440" y="2468879"/>
            <a:ext cx="4206241" cy="9144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C0CF"/>
            </a:solidFill>
          </a:ln>
          <a:effectLst>
            <a:outerShdw sx="100000" sy="100000" kx="0" ky="0" algn="b" rotWithShape="0" blurRad="63500" dist="254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" name="Text 16"/>
          <p:cNvSpPr txBox="1"/>
          <p:nvPr/>
        </p:nvSpPr>
        <p:spPr>
          <a:xfrm>
            <a:off x="4800599" y="2667000"/>
            <a:ext cx="50292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🔍</a:t>
            </a:r>
          </a:p>
        </p:txBody>
      </p:sp>
      <p:sp>
        <p:nvSpPr>
          <p:cNvPr id="49" name="Text 17"/>
          <p:cNvSpPr txBox="1"/>
          <p:nvPr/>
        </p:nvSpPr>
        <p:spPr>
          <a:xfrm>
            <a:off x="5394960" y="2536751"/>
            <a:ext cx="3291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7B1F3A"/>
                </a:solidFill>
              </a:defRPr>
            </a:lvl1pPr>
          </a:lstStyle>
          <a:p>
            <a:pPr/>
            <a:r>
              <a:t>Slow Socket Lookup</a:t>
            </a:r>
          </a:p>
        </p:txBody>
      </p:sp>
      <p:sp>
        <p:nvSpPr>
          <p:cNvPr id="50" name="Text 18"/>
          <p:cNvSpPr txBox="1"/>
          <p:nvPr/>
        </p:nvSpPr>
        <p:spPr>
          <a:xfrm>
            <a:off x="5394960" y="2848146"/>
            <a:ext cx="32918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2D0A15"/>
                </a:solidFill>
              </a:defRPr>
            </a:lvl1pPr>
          </a:lstStyle>
          <a:p>
            <a:pPr/>
            <a:r>
              <a:t>Identifying an active network socket's status is time-consuming</a:t>
            </a:r>
          </a:p>
        </p:txBody>
      </p:sp>
      <p:sp>
        <p:nvSpPr>
          <p:cNvPr id="51" name="Shape 19"/>
          <p:cNvSpPr/>
          <p:nvPr/>
        </p:nvSpPr>
        <p:spPr>
          <a:xfrm>
            <a:off x="274320" y="3566159"/>
            <a:ext cx="4206241" cy="9144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C0CF"/>
            </a:solidFill>
          </a:ln>
          <a:effectLst>
            <a:outerShdw sx="100000" sy="100000" kx="0" ky="0" algn="b" rotWithShape="0" blurRad="63500" dist="254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" name="Text 20"/>
          <p:cNvSpPr txBox="1"/>
          <p:nvPr/>
        </p:nvSpPr>
        <p:spPr>
          <a:xfrm>
            <a:off x="411479" y="3764279"/>
            <a:ext cx="50292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📊</a:t>
            </a:r>
          </a:p>
        </p:txBody>
      </p:sp>
      <p:sp>
        <p:nvSpPr>
          <p:cNvPr id="53" name="Text 21"/>
          <p:cNvSpPr txBox="1"/>
          <p:nvPr/>
        </p:nvSpPr>
        <p:spPr>
          <a:xfrm>
            <a:off x="1005840" y="3634031"/>
            <a:ext cx="32918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7B1F3A"/>
                </a:solidFill>
              </a:defRPr>
            </a:lvl1pPr>
          </a:lstStyle>
          <a:p>
            <a:pPr/>
            <a:r>
              <a:t>No Traffic Insight</a:t>
            </a:r>
          </a:p>
        </p:txBody>
      </p:sp>
      <p:sp>
        <p:nvSpPr>
          <p:cNvPr id="54" name="Text 22"/>
          <p:cNvSpPr txBox="1"/>
          <p:nvPr/>
        </p:nvSpPr>
        <p:spPr>
          <a:xfrm>
            <a:off x="1005840" y="4027976"/>
            <a:ext cx="32918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2D0A15"/>
                </a:solidFill>
              </a:defRPr>
            </a:lvl1pPr>
          </a:lstStyle>
          <a:p>
            <a:pPr/>
            <a:r>
              <a:t>Unusually large data transfers go undetected</a:t>
            </a:r>
          </a:p>
        </p:txBody>
      </p:sp>
      <p:sp>
        <p:nvSpPr>
          <p:cNvPr id="55" name="Shape 23"/>
          <p:cNvSpPr/>
          <p:nvPr/>
        </p:nvSpPr>
        <p:spPr>
          <a:xfrm>
            <a:off x="4663440" y="3566159"/>
            <a:ext cx="4206241" cy="9144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C0CF"/>
            </a:solidFill>
          </a:ln>
          <a:effectLst>
            <a:outerShdw sx="100000" sy="100000" kx="0" ky="0" algn="b" rotWithShape="0" blurRad="63500" dist="25400" dir="27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" name="Text 24"/>
          <p:cNvSpPr txBox="1"/>
          <p:nvPr/>
        </p:nvSpPr>
        <p:spPr>
          <a:xfrm>
            <a:off x="4800599" y="3764279"/>
            <a:ext cx="50292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🗺️</a:t>
            </a:r>
          </a:p>
        </p:txBody>
      </p:sp>
      <p:sp>
        <p:nvSpPr>
          <p:cNvPr id="57" name="Text 25"/>
          <p:cNvSpPr txBox="1"/>
          <p:nvPr/>
        </p:nvSpPr>
        <p:spPr>
          <a:xfrm>
            <a:off x="5394960" y="3634031"/>
            <a:ext cx="3291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7B1F3A"/>
                </a:solidFill>
              </a:defRPr>
            </a:lvl1pPr>
          </a:lstStyle>
          <a:p>
            <a:pPr/>
            <a:r>
              <a:t>No Firewall Map</a:t>
            </a:r>
          </a:p>
        </p:txBody>
      </p:sp>
      <p:sp>
        <p:nvSpPr>
          <p:cNvPr id="58" name="Text 26"/>
          <p:cNvSpPr txBox="1"/>
          <p:nvPr/>
        </p:nvSpPr>
        <p:spPr>
          <a:xfrm>
            <a:off x="5394960" y="4027976"/>
            <a:ext cx="32918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2D0A15"/>
                </a:solidFill>
              </a:defRPr>
            </a:lvl1pPr>
          </a:lstStyle>
          <a:p>
            <a:pPr/>
            <a:r>
              <a:t>No structured architecture representation for security routing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A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1"/>
          <p:cNvSpPr txBox="1"/>
          <p:nvPr/>
        </p:nvSpPr>
        <p:spPr>
          <a:xfrm>
            <a:off x="320040" y="139700"/>
            <a:ext cx="722376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💡  Our Solution</a:t>
            </a:r>
          </a:p>
        </p:txBody>
      </p:sp>
      <p:sp>
        <p:nvSpPr>
          <p:cNvPr id="62" name="Text 2"/>
          <p:cNvSpPr txBox="1"/>
          <p:nvPr/>
        </p:nvSpPr>
        <p:spPr>
          <a:xfrm>
            <a:off x="411479" y="904547"/>
            <a:ext cx="83210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E8C0CF"/>
                </a:solidFill>
              </a:defRPr>
            </a:lvl1pPr>
          </a:lstStyle>
          <a:p>
            <a:pPr/>
            <a:r>
              <a:t>FireGuard implements 8 specialised DSA modules to solve every identified problem:</a:t>
            </a:r>
          </a:p>
        </p:txBody>
      </p:sp>
      <p:sp>
        <p:nvSpPr>
          <p:cNvPr id="63" name="Shape 3"/>
          <p:cNvSpPr/>
          <p:nvPr/>
        </p:nvSpPr>
        <p:spPr>
          <a:xfrm>
            <a:off x="274320" y="1325880"/>
            <a:ext cx="2103121" cy="1645921"/>
          </a:xfrm>
          <a:prstGeom prst="roundRect">
            <a:avLst>
              <a:gd name="adj" fmla="val 6667"/>
            </a:avLst>
          </a:prstGeom>
          <a:solidFill>
            <a:srgbClr val="5C1228"/>
          </a:solidFill>
          <a:ln w="12700">
            <a:solidFill>
              <a:srgbClr val="D4748C"/>
            </a:solidFill>
          </a:ln>
          <a:effectLst>
            <a:outerShdw sx="100000" sy="100000" kx="0" ky="0" algn="b" rotWithShape="0" blurRad="101600" dist="38100" dir="27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" name="Text 4"/>
          <p:cNvSpPr txBox="1"/>
          <p:nvPr/>
        </p:nvSpPr>
        <p:spPr>
          <a:xfrm>
            <a:off x="320039" y="1409699"/>
            <a:ext cx="201168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🔤</a:t>
            </a:r>
          </a:p>
        </p:txBody>
      </p:sp>
      <p:sp>
        <p:nvSpPr>
          <p:cNvPr id="65" name="Text 5"/>
          <p:cNvSpPr txBox="1"/>
          <p:nvPr/>
        </p:nvSpPr>
        <p:spPr>
          <a:xfrm>
            <a:off x="411480" y="1921686"/>
            <a:ext cx="18288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Pattern List</a:t>
            </a:r>
          </a:p>
        </p:txBody>
      </p:sp>
      <p:sp>
        <p:nvSpPr>
          <p:cNvPr id="66" name="Shape 6"/>
          <p:cNvSpPr/>
          <p:nvPr/>
        </p:nvSpPr>
        <p:spPr>
          <a:xfrm>
            <a:off x="457200" y="2212848"/>
            <a:ext cx="1737361" cy="256033"/>
          </a:xfrm>
          <a:prstGeom prst="roundRect">
            <a:avLst>
              <a:gd name="adj" fmla="val 17857"/>
            </a:avLst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7"/>
          <p:cNvSpPr txBox="1"/>
          <p:nvPr/>
        </p:nvSpPr>
        <p:spPr>
          <a:xfrm>
            <a:off x="502919" y="2237907"/>
            <a:ext cx="164592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D0DF"/>
                </a:solidFill>
              </a:defRPr>
            </a:lvl1pPr>
          </a:lstStyle>
          <a:p>
            <a:pPr/>
            <a:r>
              <a:t>Trie</a:t>
            </a:r>
          </a:p>
        </p:txBody>
      </p:sp>
      <p:sp>
        <p:nvSpPr>
          <p:cNvPr id="68" name="Text 8"/>
          <p:cNvSpPr txBox="1"/>
          <p:nvPr/>
        </p:nvSpPr>
        <p:spPr>
          <a:xfrm>
            <a:off x="411480" y="2585379"/>
            <a:ext cx="18288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9AAF"/>
                </a:solidFill>
              </a:defRPr>
            </a:lvl1pPr>
          </a:lstStyle>
          <a:p>
            <a:pPr/>
            <a:r>
              <a:t>Fast attack signature matching</a:t>
            </a:r>
          </a:p>
        </p:txBody>
      </p:sp>
      <p:sp>
        <p:nvSpPr>
          <p:cNvPr id="69" name="Shape 9"/>
          <p:cNvSpPr/>
          <p:nvPr/>
        </p:nvSpPr>
        <p:spPr>
          <a:xfrm>
            <a:off x="2560320" y="1325880"/>
            <a:ext cx="2103121" cy="1645921"/>
          </a:xfrm>
          <a:prstGeom prst="roundRect">
            <a:avLst>
              <a:gd name="adj" fmla="val 6667"/>
            </a:avLst>
          </a:prstGeom>
          <a:solidFill>
            <a:srgbClr val="5C1228"/>
          </a:solidFill>
          <a:ln w="12700">
            <a:solidFill>
              <a:srgbClr val="D4748C"/>
            </a:solidFill>
          </a:ln>
          <a:effectLst>
            <a:outerShdw sx="100000" sy="100000" kx="0" ky="0" algn="b" rotWithShape="0" blurRad="101600" dist="38100" dir="27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" name="Text 10"/>
          <p:cNvSpPr txBox="1"/>
          <p:nvPr/>
        </p:nvSpPr>
        <p:spPr>
          <a:xfrm>
            <a:off x="2606040" y="1409699"/>
            <a:ext cx="2011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📚</a:t>
            </a:r>
          </a:p>
        </p:txBody>
      </p:sp>
      <p:sp>
        <p:nvSpPr>
          <p:cNvPr id="71" name="Text 11"/>
          <p:cNvSpPr txBox="1"/>
          <p:nvPr/>
        </p:nvSpPr>
        <p:spPr>
          <a:xfrm>
            <a:off x="2697480" y="192168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Logging Trail</a:t>
            </a:r>
          </a:p>
        </p:txBody>
      </p:sp>
      <p:sp>
        <p:nvSpPr>
          <p:cNvPr id="72" name="Shape 12"/>
          <p:cNvSpPr/>
          <p:nvPr/>
        </p:nvSpPr>
        <p:spPr>
          <a:xfrm>
            <a:off x="2743200" y="2212848"/>
            <a:ext cx="1737361" cy="256033"/>
          </a:xfrm>
          <a:prstGeom prst="roundRect">
            <a:avLst>
              <a:gd name="adj" fmla="val 17857"/>
            </a:avLst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13"/>
          <p:cNvSpPr txBox="1"/>
          <p:nvPr/>
        </p:nvSpPr>
        <p:spPr>
          <a:xfrm>
            <a:off x="2788919" y="2237907"/>
            <a:ext cx="164592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D0DF"/>
                </a:solidFill>
              </a:defRPr>
            </a:lvl1pPr>
          </a:lstStyle>
          <a:p>
            <a:pPr/>
            <a:r>
              <a:t>Stack (LIFO)</a:t>
            </a:r>
          </a:p>
        </p:txBody>
      </p:sp>
      <p:sp>
        <p:nvSpPr>
          <p:cNvPr id="74" name="Text 14"/>
          <p:cNvSpPr txBox="1"/>
          <p:nvPr/>
        </p:nvSpPr>
        <p:spPr>
          <a:xfrm>
            <a:off x="2697480" y="2585379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9AAF"/>
                </a:solidFill>
              </a:defRPr>
            </a:lvl1pPr>
          </a:lstStyle>
          <a:p>
            <a:pPr/>
            <a:r>
              <a:t>Full audit history management</a:t>
            </a:r>
          </a:p>
        </p:txBody>
      </p:sp>
      <p:sp>
        <p:nvSpPr>
          <p:cNvPr id="75" name="Shape 15"/>
          <p:cNvSpPr/>
          <p:nvPr/>
        </p:nvSpPr>
        <p:spPr>
          <a:xfrm>
            <a:off x="4846320" y="1325880"/>
            <a:ext cx="2103121" cy="1645921"/>
          </a:xfrm>
          <a:prstGeom prst="roundRect">
            <a:avLst>
              <a:gd name="adj" fmla="val 6667"/>
            </a:avLst>
          </a:prstGeom>
          <a:solidFill>
            <a:srgbClr val="5C1228"/>
          </a:solidFill>
          <a:ln w="12700">
            <a:solidFill>
              <a:srgbClr val="D4748C"/>
            </a:solidFill>
          </a:ln>
          <a:effectLst>
            <a:outerShdw sx="100000" sy="100000" kx="0" ky="0" algn="b" rotWithShape="0" blurRad="101600" dist="38100" dir="27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" name="Text 16"/>
          <p:cNvSpPr txBox="1"/>
          <p:nvPr/>
        </p:nvSpPr>
        <p:spPr>
          <a:xfrm>
            <a:off x="4892040" y="1409699"/>
            <a:ext cx="2011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📬</a:t>
            </a:r>
          </a:p>
        </p:txBody>
      </p:sp>
      <p:sp>
        <p:nvSpPr>
          <p:cNvPr id="77" name="Text 17"/>
          <p:cNvSpPr txBox="1"/>
          <p:nvPr/>
        </p:nvSpPr>
        <p:spPr>
          <a:xfrm>
            <a:off x="4983479" y="192168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Verification Line</a:t>
            </a:r>
          </a:p>
        </p:txBody>
      </p:sp>
      <p:sp>
        <p:nvSpPr>
          <p:cNvPr id="78" name="Shape 18"/>
          <p:cNvSpPr/>
          <p:nvPr/>
        </p:nvSpPr>
        <p:spPr>
          <a:xfrm>
            <a:off x="5029200" y="2212848"/>
            <a:ext cx="1737361" cy="256033"/>
          </a:xfrm>
          <a:prstGeom prst="roundRect">
            <a:avLst>
              <a:gd name="adj" fmla="val 17857"/>
            </a:avLst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19"/>
          <p:cNvSpPr txBox="1"/>
          <p:nvPr/>
        </p:nvSpPr>
        <p:spPr>
          <a:xfrm>
            <a:off x="5074919" y="2237907"/>
            <a:ext cx="164592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D0DF"/>
                </a:solidFill>
              </a:defRPr>
            </a:lvl1pPr>
          </a:lstStyle>
          <a:p>
            <a:pPr/>
            <a:r>
              <a:t>Queue (FIFO)</a:t>
            </a:r>
          </a:p>
        </p:txBody>
      </p:sp>
      <p:sp>
        <p:nvSpPr>
          <p:cNvPr id="80" name="Text 20"/>
          <p:cNvSpPr txBox="1"/>
          <p:nvPr/>
        </p:nvSpPr>
        <p:spPr>
          <a:xfrm>
            <a:off x="4983479" y="2585379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9AAF"/>
                </a:solidFill>
              </a:defRPr>
            </a:lvl1pPr>
          </a:lstStyle>
          <a:p>
            <a:pPr/>
            <a:r>
              <a:t>Strict-order packet inspection</a:t>
            </a:r>
          </a:p>
        </p:txBody>
      </p:sp>
      <p:sp>
        <p:nvSpPr>
          <p:cNvPr id="81" name="Shape 21"/>
          <p:cNvSpPr/>
          <p:nvPr/>
        </p:nvSpPr>
        <p:spPr>
          <a:xfrm>
            <a:off x="7132319" y="1325880"/>
            <a:ext cx="2103121" cy="1645921"/>
          </a:xfrm>
          <a:prstGeom prst="roundRect">
            <a:avLst>
              <a:gd name="adj" fmla="val 6667"/>
            </a:avLst>
          </a:prstGeom>
          <a:solidFill>
            <a:srgbClr val="5C1228"/>
          </a:solidFill>
          <a:ln w="12700">
            <a:solidFill>
              <a:srgbClr val="D4748C"/>
            </a:solidFill>
          </a:ln>
          <a:effectLst>
            <a:outerShdw sx="100000" sy="100000" kx="0" ky="0" algn="b" rotWithShape="0" blurRad="101600" dist="38100" dir="27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" name="Text 22"/>
          <p:cNvSpPr txBox="1"/>
          <p:nvPr/>
        </p:nvSpPr>
        <p:spPr>
          <a:xfrm>
            <a:off x="7178039" y="1409699"/>
            <a:ext cx="2011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🔑</a:t>
            </a:r>
          </a:p>
        </p:txBody>
      </p:sp>
      <p:sp>
        <p:nvSpPr>
          <p:cNvPr id="83" name="Text 23"/>
          <p:cNvSpPr txBox="1"/>
          <p:nvPr/>
        </p:nvSpPr>
        <p:spPr>
          <a:xfrm>
            <a:off x="7269479" y="192168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Socket Identity</a:t>
            </a:r>
          </a:p>
        </p:txBody>
      </p:sp>
      <p:sp>
        <p:nvSpPr>
          <p:cNvPr id="84" name="Shape 24"/>
          <p:cNvSpPr/>
          <p:nvPr/>
        </p:nvSpPr>
        <p:spPr>
          <a:xfrm>
            <a:off x="7315200" y="2212848"/>
            <a:ext cx="1737361" cy="256033"/>
          </a:xfrm>
          <a:prstGeom prst="roundRect">
            <a:avLst>
              <a:gd name="adj" fmla="val 17857"/>
            </a:avLst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25"/>
          <p:cNvSpPr txBox="1"/>
          <p:nvPr/>
        </p:nvSpPr>
        <p:spPr>
          <a:xfrm>
            <a:off x="7360919" y="2237907"/>
            <a:ext cx="164592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D0DF"/>
                </a:solidFill>
              </a:defRPr>
            </a:lvl1pPr>
          </a:lstStyle>
          <a:p>
            <a:pPr/>
            <a:r>
              <a:t>Hash Map</a:t>
            </a:r>
          </a:p>
        </p:txBody>
      </p:sp>
      <p:sp>
        <p:nvSpPr>
          <p:cNvPr id="86" name="Text 26"/>
          <p:cNvSpPr txBox="1"/>
          <p:nvPr/>
        </p:nvSpPr>
        <p:spPr>
          <a:xfrm>
            <a:off x="7269479" y="2585379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9AAF"/>
                </a:solidFill>
              </a:defRPr>
            </a:lvl1pPr>
          </a:lstStyle>
          <a:p>
            <a:pPr/>
            <a:r>
              <a:t>O(1) instant socket lookup</a:t>
            </a:r>
          </a:p>
        </p:txBody>
      </p:sp>
      <p:sp>
        <p:nvSpPr>
          <p:cNvPr id="87" name="Shape 27"/>
          <p:cNvSpPr/>
          <p:nvPr/>
        </p:nvSpPr>
        <p:spPr>
          <a:xfrm>
            <a:off x="274320" y="3154679"/>
            <a:ext cx="2103121" cy="1645921"/>
          </a:xfrm>
          <a:prstGeom prst="roundRect">
            <a:avLst>
              <a:gd name="adj" fmla="val 6667"/>
            </a:avLst>
          </a:prstGeom>
          <a:solidFill>
            <a:srgbClr val="5C1228"/>
          </a:solidFill>
          <a:ln w="12700">
            <a:solidFill>
              <a:srgbClr val="D4748C"/>
            </a:solidFill>
          </a:ln>
          <a:effectLst>
            <a:outerShdw sx="100000" sy="100000" kx="0" ky="0" algn="b" rotWithShape="0" blurRad="101600" dist="38100" dir="27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" name="Text 28"/>
          <p:cNvSpPr txBox="1"/>
          <p:nvPr/>
        </p:nvSpPr>
        <p:spPr>
          <a:xfrm>
            <a:off x="320039" y="3238500"/>
            <a:ext cx="201168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📈</a:t>
            </a:r>
          </a:p>
        </p:txBody>
      </p:sp>
      <p:sp>
        <p:nvSpPr>
          <p:cNvPr id="89" name="Text 29"/>
          <p:cNvSpPr txBox="1"/>
          <p:nvPr/>
        </p:nvSpPr>
        <p:spPr>
          <a:xfrm>
            <a:off x="411480" y="3750486"/>
            <a:ext cx="18288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Flow Sorter</a:t>
            </a:r>
          </a:p>
        </p:txBody>
      </p:sp>
      <p:sp>
        <p:nvSpPr>
          <p:cNvPr id="90" name="Shape 30"/>
          <p:cNvSpPr/>
          <p:nvPr/>
        </p:nvSpPr>
        <p:spPr>
          <a:xfrm>
            <a:off x="457200" y="4041647"/>
            <a:ext cx="1737361" cy="256033"/>
          </a:xfrm>
          <a:prstGeom prst="roundRect">
            <a:avLst>
              <a:gd name="adj" fmla="val 17857"/>
            </a:avLst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31"/>
          <p:cNvSpPr txBox="1"/>
          <p:nvPr/>
        </p:nvSpPr>
        <p:spPr>
          <a:xfrm>
            <a:off x="502919" y="4066707"/>
            <a:ext cx="164592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D0DF"/>
                </a:solidFill>
              </a:defRPr>
            </a:lvl1pPr>
          </a:lstStyle>
          <a:p>
            <a:pPr/>
            <a:r>
              <a:t>Max Heap</a:t>
            </a:r>
          </a:p>
        </p:txBody>
      </p:sp>
      <p:sp>
        <p:nvSpPr>
          <p:cNvPr id="92" name="Text 32"/>
          <p:cNvSpPr txBox="1"/>
          <p:nvPr/>
        </p:nvSpPr>
        <p:spPr>
          <a:xfrm>
            <a:off x="411480" y="4414179"/>
            <a:ext cx="18288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9AAF"/>
                </a:solidFill>
              </a:defRPr>
            </a:lvl1pPr>
          </a:lstStyle>
          <a:p>
            <a:pPr/>
            <a:r>
              <a:t>Detects high-volume data flows</a:t>
            </a:r>
          </a:p>
        </p:txBody>
      </p:sp>
      <p:sp>
        <p:nvSpPr>
          <p:cNvPr id="93" name="Shape 33"/>
          <p:cNvSpPr/>
          <p:nvPr/>
        </p:nvSpPr>
        <p:spPr>
          <a:xfrm>
            <a:off x="2560320" y="3154679"/>
            <a:ext cx="2103121" cy="1645921"/>
          </a:xfrm>
          <a:prstGeom prst="roundRect">
            <a:avLst>
              <a:gd name="adj" fmla="val 6667"/>
            </a:avLst>
          </a:prstGeom>
          <a:solidFill>
            <a:srgbClr val="5C1228"/>
          </a:solidFill>
          <a:ln w="12700">
            <a:solidFill>
              <a:srgbClr val="D4748C"/>
            </a:solidFill>
          </a:ln>
          <a:effectLst>
            <a:outerShdw sx="100000" sy="100000" kx="0" ky="0" algn="b" rotWithShape="0" blurRad="101600" dist="38100" dir="27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" name="Text 34"/>
          <p:cNvSpPr txBox="1"/>
          <p:nvPr/>
        </p:nvSpPr>
        <p:spPr>
          <a:xfrm>
            <a:off x="2606040" y="3238500"/>
            <a:ext cx="2011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🕸️</a:t>
            </a:r>
          </a:p>
        </p:txBody>
      </p:sp>
      <p:sp>
        <p:nvSpPr>
          <p:cNvPr id="95" name="Text 35"/>
          <p:cNvSpPr txBox="1"/>
          <p:nvPr/>
        </p:nvSpPr>
        <p:spPr>
          <a:xfrm>
            <a:off x="2697480" y="375048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Firewall Interfaces</a:t>
            </a:r>
          </a:p>
        </p:txBody>
      </p:sp>
      <p:sp>
        <p:nvSpPr>
          <p:cNvPr id="96" name="Shape 36"/>
          <p:cNvSpPr/>
          <p:nvPr/>
        </p:nvSpPr>
        <p:spPr>
          <a:xfrm>
            <a:off x="2743200" y="4041647"/>
            <a:ext cx="1737361" cy="256033"/>
          </a:xfrm>
          <a:prstGeom prst="roundRect">
            <a:avLst>
              <a:gd name="adj" fmla="val 17857"/>
            </a:avLst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37"/>
          <p:cNvSpPr txBox="1"/>
          <p:nvPr/>
        </p:nvSpPr>
        <p:spPr>
          <a:xfrm>
            <a:off x="2788919" y="4066707"/>
            <a:ext cx="164592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D0DF"/>
                </a:solidFill>
              </a:defRPr>
            </a:lvl1pPr>
          </a:lstStyle>
          <a:p>
            <a:pPr/>
            <a:r>
              <a:t>Graph (Adj. List)</a:t>
            </a:r>
          </a:p>
        </p:txBody>
      </p:sp>
      <p:sp>
        <p:nvSpPr>
          <p:cNvPr id="98" name="Text 38"/>
          <p:cNvSpPr txBox="1"/>
          <p:nvPr/>
        </p:nvSpPr>
        <p:spPr>
          <a:xfrm>
            <a:off x="2697480" y="4414179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9AAF"/>
                </a:solidFill>
              </a:defRPr>
            </a:lvl1pPr>
          </a:lstStyle>
          <a:p>
            <a:pPr/>
            <a:r>
              <a:t>Firewall architecture map</a:t>
            </a:r>
          </a:p>
        </p:txBody>
      </p:sp>
      <p:sp>
        <p:nvSpPr>
          <p:cNvPr id="99" name="Shape 39"/>
          <p:cNvSpPr/>
          <p:nvPr/>
        </p:nvSpPr>
        <p:spPr>
          <a:xfrm>
            <a:off x="4846320" y="3154679"/>
            <a:ext cx="2103121" cy="1645921"/>
          </a:xfrm>
          <a:prstGeom prst="roundRect">
            <a:avLst>
              <a:gd name="adj" fmla="val 6667"/>
            </a:avLst>
          </a:prstGeom>
          <a:solidFill>
            <a:srgbClr val="5C1228"/>
          </a:solidFill>
          <a:ln w="12700">
            <a:solidFill>
              <a:srgbClr val="D4748C"/>
            </a:solidFill>
          </a:ln>
          <a:effectLst>
            <a:outerShdw sx="100000" sy="100000" kx="0" ky="0" algn="b" rotWithShape="0" blurRad="101600" dist="38100" dir="27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" name="Text 40"/>
          <p:cNvSpPr txBox="1"/>
          <p:nvPr/>
        </p:nvSpPr>
        <p:spPr>
          <a:xfrm>
            <a:off x="4892040" y="3238500"/>
            <a:ext cx="2011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🗺️</a:t>
            </a:r>
          </a:p>
        </p:txBody>
      </p:sp>
      <p:sp>
        <p:nvSpPr>
          <p:cNvPr id="101" name="Text 41"/>
          <p:cNvSpPr txBox="1"/>
          <p:nvPr/>
        </p:nvSpPr>
        <p:spPr>
          <a:xfrm>
            <a:off x="4983479" y="375048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Validation Path</a:t>
            </a:r>
          </a:p>
        </p:txBody>
      </p:sp>
      <p:sp>
        <p:nvSpPr>
          <p:cNvPr id="102" name="Shape 42"/>
          <p:cNvSpPr/>
          <p:nvPr/>
        </p:nvSpPr>
        <p:spPr>
          <a:xfrm>
            <a:off x="5029200" y="4041647"/>
            <a:ext cx="1737361" cy="256033"/>
          </a:xfrm>
          <a:prstGeom prst="roundRect">
            <a:avLst>
              <a:gd name="adj" fmla="val 17857"/>
            </a:avLst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43"/>
          <p:cNvSpPr txBox="1"/>
          <p:nvPr/>
        </p:nvSpPr>
        <p:spPr>
          <a:xfrm>
            <a:off x="5074919" y="4066707"/>
            <a:ext cx="164592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D0DF"/>
                </a:solidFill>
              </a:defRPr>
            </a:lvl1pPr>
          </a:lstStyle>
          <a:p>
            <a:pPr/>
            <a:r>
              <a:t>BFS</a:t>
            </a:r>
          </a:p>
        </p:txBody>
      </p:sp>
      <p:sp>
        <p:nvSpPr>
          <p:cNvPr id="104" name="Text 44"/>
          <p:cNvSpPr txBox="1"/>
          <p:nvPr/>
        </p:nvSpPr>
        <p:spPr>
          <a:xfrm>
            <a:off x="4983479" y="4414179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9AAF"/>
                </a:solidFill>
              </a:defRPr>
            </a:lvl1pPr>
          </a:lstStyle>
          <a:p>
            <a:pPr/>
            <a:r>
              <a:t>Shortest bypass route tracing</a:t>
            </a:r>
          </a:p>
        </p:txBody>
      </p:sp>
      <p:sp>
        <p:nvSpPr>
          <p:cNvPr id="105" name="Shape 45"/>
          <p:cNvSpPr/>
          <p:nvPr/>
        </p:nvSpPr>
        <p:spPr>
          <a:xfrm>
            <a:off x="7132319" y="3154679"/>
            <a:ext cx="2103121" cy="1645921"/>
          </a:xfrm>
          <a:prstGeom prst="roundRect">
            <a:avLst>
              <a:gd name="adj" fmla="val 6667"/>
            </a:avLst>
          </a:prstGeom>
          <a:solidFill>
            <a:srgbClr val="5C1228"/>
          </a:solidFill>
          <a:ln w="12700">
            <a:solidFill>
              <a:srgbClr val="D4748C"/>
            </a:solidFill>
          </a:ln>
          <a:effectLst>
            <a:outerShdw sx="100000" sy="100000" kx="0" ky="0" algn="b" rotWithShape="0" blurRad="101600" dist="38100" dir="27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" name="Text 46"/>
          <p:cNvSpPr txBox="1"/>
          <p:nvPr/>
        </p:nvSpPr>
        <p:spPr>
          <a:xfrm>
            <a:off x="7178039" y="3238500"/>
            <a:ext cx="2011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⚖️</a:t>
            </a:r>
          </a:p>
        </p:txBody>
      </p:sp>
      <p:sp>
        <p:nvSpPr>
          <p:cNvPr id="107" name="Text 47"/>
          <p:cNvSpPr txBox="1"/>
          <p:nvPr/>
        </p:nvSpPr>
        <p:spPr>
          <a:xfrm>
            <a:off x="7269479" y="375048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Traffic Allocator</a:t>
            </a:r>
          </a:p>
        </p:txBody>
      </p:sp>
      <p:sp>
        <p:nvSpPr>
          <p:cNvPr id="108" name="Shape 48"/>
          <p:cNvSpPr/>
          <p:nvPr/>
        </p:nvSpPr>
        <p:spPr>
          <a:xfrm>
            <a:off x="7315200" y="4041647"/>
            <a:ext cx="1737361" cy="256033"/>
          </a:xfrm>
          <a:prstGeom prst="roundRect">
            <a:avLst>
              <a:gd name="adj" fmla="val 17857"/>
            </a:avLst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49"/>
          <p:cNvSpPr txBox="1"/>
          <p:nvPr/>
        </p:nvSpPr>
        <p:spPr>
          <a:xfrm>
            <a:off x="7360919" y="4066707"/>
            <a:ext cx="164592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D0DF"/>
                </a:solidFill>
              </a:defRPr>
            </a:lvl1pPr>
          </a:lstStyle>
          <a:p>
            <a:pPr/>
            <a:r>
              <a:t>Min Heap</a:t>
            </a:r>
          </a:p>
        </p:txBody>
      </p:sp>
      <p:sp>
        <p:nvSpPr>
          <p:cNvPr id="110" name="Text 50"/>
          <p:cNvSpPr txBox="1"/>
          <p:nvPr/>
        </p:nvSpPr>
        <p:spPr>
          <a:xfrm>
            <a:off x="7269479" y="4414179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9AAF"/>
                </a:solidFill>
              </a:defRPr>
            </a:lvl1pPr>
          </a:lstStyle>
          <a:p>
            <a:pPr/>
            <a:r>
              <a:t>Smart load balancing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D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1"/>
          <p:cNvSpPr txBox="1"/>
          <p:nvPr/>
        </p:nvSpPr>
        <p:spPr>
          <a:xfrm>
            <a:off x="320040" y="139700"/>
            <a:ext cx="722376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🧠  Working — System Flow</a:t>
            </a:r>
          </a:p>
        </p:txBody>
      </p:sp>
      <p:sp>
        <p:nvSpPr>
          <p:cNvPr id="114" name="Shape 2"/>
          <p:cNvSpPr/>
          <p:nvPr/>
        </p:nvSpPr>
        <p:spPr>
          <a:xfrm>
            <a:off x="182879" y="960119"/>
            <a:ext cx="2103122" cy="1600201"/>
          </a:xfrm>
          <a:prstGeom prst="roundRect">
            <a:avLst>
              <a:gd name="adj" fmla="val 6857"/>
            </a:avLst>
          </a:prstGeom>
          <a:solidFill>
            <a:srgbClr val="7B1F3A"/>
          </a:solidFill>
          <a:ln w="15240">
            <a:solidFill>
              <a:srgbClr val="D4748C"/>
            </a:solidFill>
          </a:ln>
          <a:effectLst>
            <a:outerShdw sx="100000" sy="100000" kx="0" ky="0" algn="b" rotWithShape="0" blurRad="63500" dist="254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" name="Text 3"/>
          <p:cNvSpPr txBox="1"/>
          <p:nvPr/>
        </p:nvSpPr>
        <p:spPr>
          <a:xfrm>
            <a:off x="228599" y="1025652"/>
            <a:ext cx="201168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🌐</a:t>
            </a:r>
          </a:p>
        </p:txBody>
      </p:sp>
      <p:sp>
        <p:nvSpPr>
          <p:cNvPr id="116" name="Shape 4"/>
          <p:cNvSpPr/>
          <p:nvPr/>
        </p:nvSpPr>
        <p:spPr>
          <a:xfrm>
            <a:off x="1051560" y="1463039"/>
            <a:ext cx="347473" cy="256033"/>
          </a:xfrm>
          <a:prstGeom prst="ellipse">
            <a:avLst/>
          </a:prstGeom>
          <a:solidFill>
            <a:srgbClr val="5C1228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5"/>
          <p:cNvSpPr txBox="1"/>
          <p:nvPr/>
        </p:nvSpPr>
        <p:spPr>
          <a:xfrm>
            <a:off x="1097280" y="1488099"/>
            <a:ext cx="25603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8" name="Text 6"/>
          <p:cNvSpPr txBox="1"/>
          <p:nvPr/>
        </p:nvSpPr>
        <p:spPr>
          <a:xfrm>
            <a:off x="320040" y="1830246"/>
            <a:ext cx="18288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Internet Traffic</a:t>
            </a:r>
          </a:p>
        </p:txBody>
      </p:sp>
      <p:sp>
        <p:nvSpPr>
          <p:cNvPr id="119" name="Text 7"/>
          <p:cNvSpPr txBox="1"/>
          <p:nvPr/>
        </p:nvSpPr>
        <p:spPr>
          <a:xfrm>
            <a:off x="320040" y="2201331"/>
            <a:ext cx="18288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D0DF"/>
                </a:solidFill>
              </a:defRPr>
            </a:lvl1pPr>
          </a:lstStyle>
          <a:p>
            <a:pPr/>
            <a:r>
              <a:t>Packets arrive at firewall</a:t>
            </a:r>
          </a:p>
        </p:txBody>
      </p:sp>
      <p:sp>
        <p:nvSpPr>
          <p:cNvPr id="120" name="Shape 8"/>
          <p:cNvSpPr/>
          <p:nvPr/>
        </p:nvSpPr>
        <p:spPr>
          <a:xfrm>
            <a:off x="2304288" y="1755648"/>
            <a:ext cx="329185" cy="1"/>
          </a:xfrm>
          <a:prstGeom prst="line">
            <a:avLst/>
          </a:prstGeom>
          <a:ln w="254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9"/>
          <p:cNvSpPr txBox="1"/>
          <p:nvPr/>
        </p:nvSpPr>
        <p:spPr>
          <a:xfrm>
            <a:off x="2587752" y="1692147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7B1F3A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122" name="Shape 10"/>
          <p:cNvSpPr/>
          <p:nvPr/>
        </p:nvSpPr>
        <p:spPr>
          <a:xfrm>
            <a:off x="2468879" y="960119"/>
            <a:ext cx="2103121" cy="1600201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E0B0C0"/>
            </a:solidFill>
          </a:ln>
          <a:effectLst>
            <a:outerShdw sx="100000" sy="100000" kx="0" ky="0" algn="b" rotWithShape="0" blurRad="63500" dist="254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" name="Text 11"/>
          <p:cNvSpPr txBox="1"/>
          <p:nvPr/>
        </p:nvSpPr>
        <p:spPr>
          <a:xfrm>
            <a:off x="2514599" y="1025652"/>
            <a:ext cx="2011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🔤</a:t>
            </a:r>
          </a:p>
        </p:txBody>
      </p:sp>
      <p:sp>
        <p:nvSpPr>
          <p:cNvPr id="124" name="Shape 12"/>
          <p:cNvSpPr/>
          <p:nvPr/>
        </p:nvSpPr>
        <p:spPr>
          <a:xfrm>
            <a:off x="3337559" y="1463039"/>
            <a:ext cx="347473" cy="256033"/>
          </a:xfrm>
          <a:prstGeom prst="ellipse">
            <a:avLst/>
          </a:prstGeom>
          <a:solidFill>
            <a:srgbClr val="7B1F3A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13"/>
          <p:cNvSpPr txBox="1"/>
          <p:nvPr/>
        </p:nvSpPr>
        <p:spPr>
          <a:xfrm>
            <a:off x="3383279" y="1488099"/>
            <a:ext cx="25603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6" name="Text 14"/>
          <p:cNvSpPr txBox="1"/>
          <p:nvPr/>
        </p:nvSpPr>
        <p:spPr>
          <a:xfrm>
            <a:off x="2606040" y="183024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7B1F3A"/>
                </a:solidFill>
              </a:defRPr>
            </a:lvl1pPr>
          </a:lstStyle>
          <a:p>
            <a:pPr/>
            <a:r>
              <a:t>Pattern Detection</a:t>
            </a:r>
          </a:p>
        </p:txBody>
      </p:sp>
      <p:sp>
        <p:nvSpPr>
          <p:cNvPr id="127" name="Text 15"/>
          <p:cNvSpPr txBox="1"/>
          <p:nvPr/>
        </p:nvSpPr>
        <p:spPr>
          <a:xfrm>
            <a:off x="2606040" y="2201331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D4748C"/>
                </a:solidFill>
              </a:defRPr>
            </a:lvl1pPr>
          </a:lstStyle>
          <a:p>
            <a:pPr/>
            <a:r>
              <a:t>Trie scans for malicious signatures</a:t>
            </a:r>
          </a:p>
        </p:txBody>
      </p:sp>
      <p:sp>
        <p:nvSpPr>
          <p:cNvPr id="128" name="Shape 16"/>
          <p:cNvSpPr/>
          <p:nvPr/>
        </p:nvSpPr>
        <p:spPr>
          <a:xfrm>
            <a:off x="4590288" y="1755648"/>
            <a:ext cx="329185" cy="1"/>
          </a:xfrm>
          <a:prstGeom prst="line">
            <a:avLst/>
          </a:prstGeom>
          <a:ln w="254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17"/>
          <p:cNvSpPr txBox="1"/>
          <p:nvPr/>
        </p:nvSpPr>
        <p:spPr>
          <a:xfrm>
            <a:off x="4873752" y="1692147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7B1F3A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130" name="Shape 18"/>
          <p:cNvSpPr/>
          <p:nvPr/>
        </p:nvSpPr>
        <p:spPr>
          <a:xfrm>
            <a:off x="4754879" y="960119"/>
            <a:ext cx="2103121" cy="1600201"/>
          </a:xfrm>
          <a:prstGeom prst="roundRect">
            <a:avLst>
              <a:gd name="adj" fmla="val 6857"/>
            </a:avLst>
          </a:prstGeom>
          <a:solidFill>
            <a:srgbClr val="7B1F3A"/>
          </a:solidFill>
          <a:ln w="15240">
            <a:solidFill>
              <a:srgbClr val="D4748C"/>
            </a:solidFill>
          </a:ln>
          <a:effectLst>
            <a:outerShdw sx="100000" sy="100000" kx="0" ky="0" algn="b" rotWithShape="0" blurRad="63500" dist="254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" name="Text 19"/>
          <p:cNvSpPr txBox="1"/>
          <p:nvPr/>
        </p:nvSpPr>
        <p:spPr>
          <a:xfrm>
            <a:off x="4800599" y="1025652"/>
            <a:ext cx="2011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📬</a:t>
            </a:r>
          </a:p>
        </p:txBody>
      </p:sp>
      <p:sp>
        <p:nvSpPr>
          <p:cNvPr id="132" name="Shape 20"/>
          <p:cNvSpPr/>
          <p:nvPr/>
        </p:nvSpPr>
        <p:spPr>
          <a:xfrm>
            <a:off x="5623559" y="1463039"/>
            <a:ext cx="347473" cy="256033"/>
          </a:xfrm>
          <a:prstGeom prst="ellipse">
            <a:avLst/>
          </a:prstGeom>
          <a:solidFill>
            <a:srgbClr val="5C1228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21"/>
          <p:cNvSpPr txBox="1"/>
          <p:nvPr/>
        </p:nvSpPr>
        <p:spPr>
          <a:xfrm>
            <a:off x="5669279" y="1488099"/>
            <a:ext cx="25603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4" name="Text 22"/>
          <p:cNvSpPr txBox="1"/>
          <p:nvPr/>
        </p:nvSpPr>
        <p:spPr>
          <a:xfrm>
            <a:off x="4892040" y="183024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Verification Queue</a:t>
            </a:r>
          </a:p>
        </p:txBody>
      </p:sp>
      <p:sp>
        <p:nvSpPr>
          <p:cNvPr id="135" name="Text 23"/>
          <p:cNvSpPr txBox="1"/>
          <p:nvPr/>
        </p:nvSpPr>
        <p:spPr>
          <a:xfrm>
            <a:off x="4892040" y="2201331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D0DF"/>
                </a:solidFill>
              </a:defRPr>
            </a:lvl1pPr>
          </a:lstStyle>
          <a:p>
            <a:pPr/>
            <a:r>
              <a:t>FIFO inspection order</a:t>
            </a:r>
          </a:p>
        </p:txBody>
      </p:sp>
      <p:sp>
        <p:nvSpPr>
          <p:cNvPr id="136" name="Shape 24"/>
          <p:cNvSpPr/>
          <p:nvPr/>
        </p:nvSpPr>
        <p:spPr>
          <a:xfrm>
            <a:off x="6876288" y="1755648"/>
            <a:ext cx="329185" cy="1"/>
          </a:xfrm>
          <a:prstGeom prst="line">
            <a:avLst/>
          </a:prstGeom>
          <a:ln w="254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25"/>
          <p:cNvSpPr txBox="1"/>
          <p:nvPr/>
        </p:nvSpPr>
        <p:spPr>
          <a:xfrm>
            <a:off x="7159751" y="1692147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7B1F3A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138" name="Shape 26"/>
          <p:cNvSpPr/>
          <p:nvPr/>
        </p:nvSpPr>
        <p:spPr>
          <a:xfrm>
            <a:off x="7040880" y="960119"/>
            <a:ext cx="2103121" cy="1600201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E0B0C0"/>
            </a:solidFill>
          </a:ln>
          <a:effectLst>
            <a:outerShdw sx="100000" sy="100000" kx="0" ky="0" algn="b" rotWithShape="0" blurRad="63500" dist="254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" name="Text 27"/>
          <p:cNvSpPr txBox="1"/>
          <p:nvPr/>
        </p:nvSpPr>
        <p:spPr>
          <a:xfrm>
            <a:off x="7086600" y="1025652"/>
            <a:ext cx="2011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🔑</a:t>
            </a:r>
          </a:p>
        </p:txBody>
      </p:sp>
      <p:sp>
        <p:nvSpPr>
          <p:cNvPr id="140" name="Shape 28"/>
          <p:cNvSpPr/>
          <p:nvPr/>
        </p:nvSpPr>
        <p:spPr>
          <a:xfrm>
            <a:off x="7909559" y="1463039"/>
            <a:ext cx="347473" cy="256033"/>
          </a:xfrm>
          <a:prstGeom prst="ellipse">
            <a:avLst/>
          </a:prstGeom>
          <a:solidFill>
            <a:srgbClr val="7B1F3A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29"/>
          <p:cNvSpPr txBox="1"/>
          <p:nvPr/>
        </p:nvSpPr>
        <p:spPr>
          <a:xfrm>
            <a:off x="7955279" y="1488099"/>
            <a:ext cx="25603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2" name="Text 30"/>
          <p:cNvSpPr txBox="1"/>
          <p:nvPr/>
        </p:nvSpPr>
        <p:spPr>
          <a:xfrm>
            <a:off x="7178039" y="183024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7B1F3A"/>
                </a:solidFill>
              </a:defRPr>
            </a:lvl1pPr>
          </a:lstStyle>
          <a:p>
            <a:pPr/>
            <a:r>
              <a:t>Socket Lookup</a:t>
            </a:r>
          </a:p>
        </p:txBody>
      </p:sp>
      <p:sp>
        <p:nvSpPr>
          <p:cNvPr id="143" name="Text 31"/>
          <p:cNvSpPr txBox="1"/>
          <p:nvPr/>
        </p:nvSpPr>
        <p:spPr>
          <a:xfrm>
            <a:off x="7178039" y="2201331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D4748C"/>
                </a:solidFill>
              </a:defRPr>
            </a:lvl1pPr>
          </a:lstStyle>
          <a:p>
            <a:pPr/>
            <a:r>
              <a:t>Instant status via Hash Map</a:t>
            </a:r>
          </a:p>
        </p:txBody>
      </p:sp>
      <p:sp>
        <p:nvSpPr>
          <p:cNvPr id="144" name="Shape 32"/>
          <p:cNvSpPr/>
          <p:nvPr/>
        </p:nvSpPr>
        <p:spPr>
          <a:xfrm>
            <a:off x="182879" y="2880360"/>
            <a:ext cx="2103122" cy="1600201"/>
          </a:xfrm>
          <a:prstGeom prst="roundRect">
            <a:avLst>
              <a:gd name="adj" fmla="val 6857"/>
            </a:avLst>
          </a:prstGeom>
          <a:solidFill>
            <a:srgbClr val="7B1F3A"/>
          </a:solidFill>
          <a:ln w="15240">
            <a:solidFill>
              <a:srgbClr val="D4748C"/>
            </a:solidFill>
          </a:ln>
          <a:effectLst>
            <a:outerShdw sx="100000" sy="100000" kx="0" ky="0" algn="b" rotWithShape="0" blurRad="63500" dist="254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" name="Text 33"/>
          <p:cNvSpPr txBox="1"/>
          <p:nvPr/>
        </p:nvSpPr>
        <p:spPr>
          <a:xfrm>
            <a:off x="228599" y="2945891"/>
            <a:ext cx="201168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📊</a:t>
            </a:r>
          </a:p>
        </p:txBody>
      </p:sp>
      <p:sp>
        <p:nvSpPr>
          <p:cNvPr id="146" name="Shape 34"/>
          <p:cNvSpPr/>
          <p:nvPr/>
        </p:nvSpPr>
        <p:spPr>
          <a:xfrm>
            <a:off x="1051560" y="3383279"/>
            <a:ext cx="347473" cy="256033"/>
          </a:xfrm>
          <a:prstGeom prst="ellipse">
            <a:avLst/>
          </a:prstGeom>
          <a:solidFill>
            <a:srgbClr val="5C1228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35"/>
          <p:cNvSpPr txBox="1"/>
          <p:nvPr/>
        </p:nvSpPr>
        <p:spPr>
          <a:xfrm>
            <a:off x="1097280" y="3408339"/>
            <a:ext cx="25603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8" name="Text 36"/>
          <p:cNvSpPr txBox="1"/>
          <p:nvPr/>
        </p:nvSpPr>
        <p:spPr>
          <a:xfrm>
            <a:off x="320040" y="3750486"/>
            <a:ext cx="18288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Flow Analysis</a:t>
            </a:r>
          </a:p>
        </p:txBody>
      </p:sp>
      <p:sp>
        <p:nvSpPr>
          <p:cNvPr id="149" name="Text 37"/>
          <p:cNvSpPr txBox="1"/>
          <p:nvPr/>
        </p:nvSpPr>
        <p:spPr>
          <a:xfrm>
            <a:off x="320040" y="4121571"/>
            <a:ext cx="18288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D0DF"/>
                </a:solidFill>
              </a:defRPr>
            </a:lvl1pPr>
          </a:lstStyle>
          <a:p>
            <a:pPr/>
            <a:r>
              <a:t>Max Heap flags large transfers</a:t>
            </a:r>
          </a:p>
        </p:txBody>
      </p:sp>
      <p:sp>
        <p:nvSpPr>
          <p:cNvPr id="150" name="Shape 38"/>
          <p:cNvSpPr/>
          <p:nvPr/>
        </p:nvSpPr>
        <p:spPr>
          <a:xfrm>
            <a:off x="2304288" y="3675888"/>
            <a:ext cx="329185" cy="1"/>
          </a:xfrm>
          <a:prstGeom prst="line">
            <a:avLst/>
          </a:prstGeom>
          <a:ln w="254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39"/>
          <p:cNvSpPr txBox="1"/>
          <p:nvPr/>
        </p:nvSpPr>
        <p:spPr>
          <a:xfrm>
            <a:off x="2587752" y="3612387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7B1F3A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152" name="Shape 40"/>
          <p:cNvSpPr/>
          <p:nvPr/>
        </p:nvSpPr>
        <p:spPr>
          <a:xfrm>
            <a:off x="2468879" y="2880360"/>
            <a:ext cx="2103121" cy="1600201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E0B0C0"/>
            </a:solidFill>
          </a:ln>
          <a:effectLst>
            <a:outerShdw sx="100000" sy="100000" kx="0" ky="0" algn="b" rotWithShape="0" blurRad="63500" dist="254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" name="Text 41"/>
          <p:cNvSpPr txBox="1"/>
          <p:nvPr/>
        </p:nvSpPr>
        <p:spPr>
          <a:xfrm>
            <a:off x="2514599" y="2945891"/>
            <a:ext cx="2011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🗺️</a:t>
            </a:r>
          </a:p>
        </p:txBody>
      </p:sp>
      <p:sp>
        <p:nvSpPr>
          <p:cNvPr id="154" name="Shape 42"/>
          <p:cNvSpPr/>
          <p:nvPr/>
        </p:nvSpPr>
        <p:spPr>
          <a:xfrm>
            <a:off x="3337559" y="3383279"/>
            <a:ext cx="347473" cy="256033"/>
          </a:xfrm>
          <a:prstGeom prst="ellipse">
            <a:avLst/>
          </a:prstGeom>
          <a:solidFill>
            <a:srgbClr val="7B1F3A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43"/>
          <p:cNvSpPr txBox="1"/>
          <p:nvPr/>
        </p:nvSpPr>
        <p:spPr>
          <a:xfrm>
            <a:off x="3383279" y="3408339"/>
            <a:ext cx="25603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56" name="Text 44"/>
          <p:cNvSpPr txBox="1"/>
          <p:nvPr/>
        </p:nvSpPr>
        <p:spPr>
          <a:xfrm>
            <a:off x="2606040" y="375048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7B1F3A"/>
                </a:solidFill>
              </a:defRPr>
            </a:lvl1pPr>
          </a:lstStyle>
          <a:p>
            <a:pPr/>
            <a:r>
              <a:t>Graph + BFS</a:t>
            </a:r>
          </a:p>
        </p:txBody>
      </p:sp>
      <p:sp>
        <p:nvSpPr>
          <p:cNvPr id="157" name="Text 45"/>
          <p:cNvSpPr txBox="1"/>
          <p:nvPr/>
        </p:nvSpPr>
        <p:spPr>
          <a:xfrm>
            <a:off x="2606040" y="4121571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D4748C"/>
                </a:solidFill>
              </a:defRPr>
            </a:lvl1pPr>
          </a:lstStyle>
          <a:p>
            <a:pPr/>
            <a:r>
              <a:t>Shortest path traced via BFS</a:t>
            </a:r>
          </a:p>
        </p:txBody>
      </p:sp>
      <p:sp>
        <p:nvSpPr>
          <p:cNvPr id="158" name="Shape 46"/>
          <p:cNvSpPr/>
          <p:nvPr/>
        </p:nvSpPr>
        <p:spPr>
          <a:xfrm>
            <a:off x="4590288" y="3675888"/>
            <a:ext cx="329185" cy="1"/>
          </a:xfrm>
          <a:prstGeom prst="line">
            <a:avLst/>
          </a:prstGeom>
          <a:ln w="254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47"/>
          <p:cNvSpPr txBox="1"/>
          <p:nvPr/>
        </p:nvSpPr>
        <p:spPr>
          <a:xfrm>
            <a:off x="4873752" y="3612387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7B1F3A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160" name="Shape 48"/>
          <p:cNvSpPr/>
          <p:nvPr/>
        </p:nvSpPr>
        <p:spPr>
          <a:xfrm>
            <a:off x="4754879" y="2880360"/>
            <a:ext cx="2103121" cy="1600201"/>
          </a:xfrm>
          <a:prstGeom prst="roundRect">
            <a:avLst>
              <a:gd name="adj" fmla="val 6857"/>
            </a:avLst>
          </a:prstGeom>
          <a:solidFill>
            <a:srgbClr val="7B1F3A"/>
          </a:solidFill>
          <a:ln w="15240">
            <a:solidFill>
              <a:srgbClr val="D4748C"/>
            </a:solidFill>
          </a:ln>
          <a:effectLst>
            <a:outerShdw sx="100000" sy="100000" kx="0" ky="0" algn="b" rotWithShape="0" blurRad="63500" dist="254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" name="Text 49"/>
          <p:cNvSpPr txBox="1"/>
          <p:nvPr/>
        </p:nvSpPr>
        <p:spPr>
          <a:xfrm>
            <a:off x="4800599" y="2945891"/>
            <a:ext cx="2011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⚖️</a:t>
            </a:r>
          </a:p>
        </p:txBody>
      </p:sp>
      <p:sp>
        <p:nvSpPr>
          <p:cNvPr id="162" name="Shape 50"/>
          <p:cNvSpPr/>
          <p:nvPr/>
        </p:nvSpPr>
        <p:spPr>
          <a:xfrm>
            <a:off x="5623559" y="3383279"/>
            <a:ext cx="347473" cy="256033"/>
          </a:xfrm>
          <a:prstGeom prst="ellipse">
            <a:avLst/>
          </a:prstGeom>
          <a:solidFill>
            <a:srgbClr val="5C1228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51"/>
          <p:cNvSpPr txBox="1"/>
          <p:nvPr/>
        </p:nvSpPr>
        <p:spPr>
          <a:xfrm>
            <a:off x="5669279" y="3408339"/>
            <a:ext cx="25603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4" name="Text 52"/>
          <p:cNvSpPr txBox="1"/>
          <p:nvPr/>
        </p:nvSpPr>
        <p:spPr>
          <a:xfrm>
            <a:off x="4892040" y="375048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Load Balancing</a:t>
            </a:r>
          </a:p>
        </p:txBody>
      </p:sp>
      <p:sp>
        <p:nvSpPr>
          <p:cNvPr id="165" name="Text 53"/>
          <p:cNvSpPr txBox="1"/>
          <p:nvPr/>
        </p:nvSpPr>
        <p:spPr>
          <a:xfrm>
            <a:off x="4892040" y="4121571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D0DF"/>
                </a:solidFill>
              </a:defRPr>
            </a:lvl1pPr>
          </a:lstStyle>
          <a:p>
            <a:pPr/>
            <a:r>
              <a:t>Min Heap distributes workload</a:t>
            </a:r>
          </a:p>
        </p:txBody>
      </p:sp>
      <p:sp>
        <p:nvSpPr>
          <p:cNvPr id="166" name="Shape 54"/>
          <p:cNvSpPr/>
          <p:nvPr/>
        </p:nvSpPr>
        <p:spPr>
          <a:xfrm>
            <a:off x="6876288" y="3675888"/>
            <a:ext cx="329185" cy="1"/>
          </a:xfrm>
          <a:prstGeom prst="line">
            <a:avLst/>
          </a:prstGeom>
          <a:ln w="254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55"/>
          <p:cNvSpPr txBox="1"/>
          <p:nvPr/>
        </p:nvSpPr>
        <p:spPr>
          <a:xfrm>
            <a:off x="7159751" y="3612387"/>
            <a:ext cx="45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7B1F3A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168" name="Shape 56"/>
          <p:cNvSpPr/>
          <p:nvPr/>
        </p:nvSpPr>
        <p:spPr>
          <a:xfrm>
            <a:off x="7040880" y="2880360"/>
            <a:ext cx="2103121" cy="1600201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E0B0C0"/>
            </a:solidFill>
          </a:ln>
          <a:effectLst>
            <a:outerShdw sx="100000" sy="100000" kx="0" ky="0" algn="b" rotWithShape="0" blurRad="63500" dist="25400" dir="27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" name="Text 57"/>
          <p:cNvSpPr txBox="1"/>
          <p:nvPr/>
        </p:nvSpPr>
        <p:spPr>
          <a:xfrm>
            <a:off x="7086600" y="2945891"/>
            <a:ext cx="201168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📚</a:t>
            </a:r>
          </a:p>
        </p:txBody>
      </p:sp>
      <p:sp>
        <p:nvSpPr>
          <p:cNvPr id="170" name="Shape 58"/>
          <p:cNvSpPr/>
          <p:nvPr/>
        </p:nvSpPr>
        <p:spPr>
          <a:xfrm>
            <a:off x="7909559" y="3383279"/>
            <a:ext cx="347473" cy="256033"/>
          </a:xfrm>
          <a:prstGeom prst="ellipse">
            <a:avLst/>
          </a:prstGeom>
          <a:solidFill>
            <a:srgbClr val="7B1F3A"/>
          </a:solidFill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59"/>
          <p:cNvSpPr txBox="1"/>
          <p:nvPr/>
        </p:nvSpPr>
        <p:spPr>
          <a:xfrm>
            <a:off x="7955279" y="3408339"/>
            <a:ext cx="25603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72" name="Text 60"/>
          <p:cNvSpPr txBox="1"/>
          <p:nvPr/>
        </p:nvSpPr>
        <p:spPr>
          <a:xfrm>
            <a:off x="7178039" y="375048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7B1F3A"/>
                </a:solidFill>
              </a:defRPr>
            </a:lvl1pPr>
          </a:lstStyle>
          <a:p>
            <a:pPr/>
            <a:r>
              <a:t>Audit Logged</a:t>
            </a:r>
          </a:p>
        </p:txBody>
      </p:sp>
      <p:sp>
        <p:nvSpPr>
          <p:cNvPr id="173" name="Text 61"/>
          <p:cNvSpPr txBox="1"/>
          <p:nvPr/>
        </p:nvSpPr>
        <p:spPr>
          <a:xfrm>
            <a:off x="7178039" y="4121571"/>
            <a:ext cx="18288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D4748C"/>
                </a:solidFill>
              </a:defRPr>
            </a:lvl1pPr>
          </a:lstStyle>
          <a:p>
            <a:pPr/>
            <a:r>
              <a:t>Stack records every inspection</a:t>
            </a:r>
          </a:p>
        </p:txBody>
      </p:sp>
      <p:sp>
        <p:nvSpPr>
          <p:cNvPr id="174" name="Shape 62"/>
          <p:cNvSpPr/>
          <p:nvPr/>
        </p:nvSpPr>
        <p:spPr>
          <a:xfrm>
            <a:off x="7168895" y="2560320"/>
            <a:ext cx="1" cy="256033"/>
          </a:xfrm>
          <a:prstGeom prst="line">
            <a:avLst/>
          </a:prstGeom>
          <a:ln w="254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63"/>
          <p:cNvSpPr txBox="1"/>
          <p:nvPr/>
        </p:nvSpPr>
        <p:spPr>
          <a:xfrm>
            <a:off x="7150608" y="2719070"/>
            <a:ext cx="109729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7B1F3A"/>
                </a:solidFill>
              </a:defRPr>
            </a:lvl1pPr>
          </a:lstStyle>
          <a:p>
            <a:pPr/>
            <a:r>
              <a:t>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A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1"/>
          <p:cNvSpPr txBox="1"/>
          <p:nvPr/>
        </p:nvSpPr>
        <p:spPr>
          <a:xfrm>
            <a:off x="320040" y="139700"/>
            <a:ext cx="722376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📐  Data Structures &amp; Complexity</a:t>
            </a:r>
          </a:p>
        </p:txBody>
      </p:sp>
      <p:graphicFrame>
        <p:nvGraphicFramePr>
          <p:cNvPr id="179" name="Table 0"/>
          <p:cNvGraphicFramePr/>
          <p:nvPr/>
        </p:nvGraphicFramePr>
        <p:xfrm>
          <a:off x="274320" y="868680"/>
          <a:ext cx="8595360" cy="427939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5C1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Data Structure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5C1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Time Complexity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5C1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Space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5C1228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🔤 Pattern List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Trie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O(L) search/insert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O(N×L)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📚 Logging Trail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Stack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O(1) push/pop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O(N)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📬 Verification Line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Queue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O(1) enqueue/dequeue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O(N)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🔑 Socket Identity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Hash Map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O(1) insert/search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O(N)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📈 Flow Sorter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Max Heap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O(log N) insert/delete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O(N)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🕸️ Firewall Interfaces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Graph (Adj. List)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O(V+E) storage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O(V+E)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🗺️ Validation Path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BFS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O(V+E) traversal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O(V)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⚖️ Traffic Allocator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Min Heap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O(log N) insert/remove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F0D0DA"/>
                          </a:solidFill>
                        </a:rPr>
                        <a:t>O(N)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8A3050"/>
                      </a:solidFill>
                    </a:lnL>
                    <a:lnR w="6350">
                      <a:solidFill>
                        <a:srgbClr val="8A3050"/>
                      </a:solidFill>
                    </a:lnR>
                    <a:lnT w="6350">
                      <a:solidFill>
                        <a:srgbClr val="8A3050"/>
                      </a:solidFill>
                    </a:lnT>
                    <a:lnB w="6350">
                      <a:solidFill>
                        <a:srgbClr val="8A3050"/>
                      </a:solidFill>
                    </a:lnB>
                    <a:solidFill>
                      <a:srgbClr val="3D0D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D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1"/>
          <p:cNvSpPr txBox="1"/>
          <p:nvPr/>
        </p:nvSpPr>
        <p:spPr>
          <a:xfrm>
            <a:off x="320040" y="139700"/>
            <a:ext cx="722376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💻  Sample Input &amp; Output</a:t>
            </a:r>
          </a:p>
        </p:txBody>
      </p:sp>
      <p:sp>
        <p:nvSpPr>
          <p:cNvPr id="183" name="Shape 2"/>
          <p:cNvSpPr/>
          <p:nvPr/>
        </p:nvSpPr>
        <p:spPr>
          <a:xfrm>
            <a:off x="182879" y="914400"/>
            <a:ext cx="2834641" cy="40690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E0B0C0"/>
            </a:solidFill>
          </a:ln>
          <a:effectLst>
            <a:outerShdw sx="100000" sy="100000" kx="0" ky="0" algn="b" rotWithShape="0" blurRad="76200" dist="25400" dir="2700000">
              <a:srgbClr val="000000">
                <a:alpha val="13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" name="Shape 3"/>
          <p:cNvSpPr/>
          <p:nvPr/>
        </p:nvSpPr>
        <p:spPr>
          <a:xfrm>
            <a:off x="228600" y="9144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4"/>
          <p:cNvSpPr txBox="1"/>
          <p:nvPr/>
        </p:nvSpPr>
        <p:spPr>
          <a:xfrm>
            <a:off x="274319" y="970279"/>
            <a:ext cx="265176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🔤 Pattern Detection</a:t>
            </a:r>
          </a:p>
        </p:txBody>
      </p:sp>
      <p:sp>
        <p:nvSpPr>
          <p:cNvPr id="186" name="Text 5"/>
          <p:cNvSpPr txBox="1"/>
          <p:nvPr/>
        </p:nvSpPr>
        <p:spPr>
          <a:xfrm>
            <a:off x="411479" y="1478202"/>
            <a:ext cx="23774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7B1F3A"/>
                </a:solidFill>
              </a:defRPr>
            </a:lvl1pPr>
          </a:lstStyle>
          <a:p>
            <a:pPr/>
            <a:r>
              <a:t>Input:</a:t>
            </a:r>
          </a:p>
        </p:txBody>
      </p:sp>
      <p:sp>
        <p:nvSpPr>
          <p:cNvPr id="187" name="Shape 6"/>
          <p:cNvSpPr/>
          <p:nvPr/>
        </p:nvSpPr>
        <p:spPr>
          <a:xfrm>
            <a:off x="320040" y="1737360"/>
            <a:ext cx="2560321" cy="1234440"/>
          </a:xfrm>
          <a:prstGeom prst="roundRect">
            <a:avLst>
              <a:gd name="adj" fmla="val 5185"/>
            </a:avLst>
          </a:prstGeom>
          <a:solidFill>
            <a:srgbClr val="F7F0F3"/>
          </a:solidFill>
          <a:ln w="12700">
            <a:solidFill>
              <a:srgbClr val="E0B0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7"/>
          <p:cNvSpPr txBox="1"/>
          <p:nvPr/>
        </p:nvSpPr>
        <p:spPr>
          <a:xfrm>
            <a:off x="411479" y="2059432"/>
            <a:ext cx="2377442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2D0A1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Insert: "virus", "trojan", "malware"</a:t>
            </a:r>
          </a:p>
          <a:p>
            <a:pPr>
              <a:defRPr sz="900">
                <a:solidFill>
                  <a:srgbClr val="2D0A1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Scan: "This file contains malware code"</a:t>
            </a:r>
          </a:p>
        </p:txBody>
      </p:sp>
      <p:sp>
        <p:nvSpPr>
          <p:cNvPr id="189" name="Text 8"/>
          <p:cNvSpPr txBox="1"/>
          <p:nvPr/>
        </p:nvSpPr>
        <p:spPr>
          <a:xfrm>
            <a:off x="411479" y="3050970"/>
            <a:ext cx="23774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7B1F3A"/>
                </a:solidFill>
              </a:defRPr>
            </a:lvl1pPr>
          </a:lstStyle>
          <a:p>
            <a:pPr/>
            <a:r>
              <a:t>Output:</a:t>
            </a:r>
          </a:p>
        </p:txBody>
      </p:sp>
      <p:sp>
        <p:nvSpPr>
          <p:cNvPr id="190" name="Shape 9"/>
          <p:cNvSpPr/>
          <p:nvPr/>
        </p:nvSpPr>
        <p:spPr>
          <a:xfrm>
            <a:off x="320040" y="3319271"/>
            <a:ext cx="2560321" cy="594361"/>
          </a:xfrm>
          <a:prstGeom prst="roundRect">
            <a:avLst>
              <a:gd name="adj" fmla="val 10769"/>
            </a:avLst>
          </a:prstGeom>
          <a:solidFill>
            <a:srgbClr val="FDEEF2"/>
          </a:solidFill>
          <a:ln w="12700">
            <a:solidFill>
              <a:srgbClr val="D474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10"/>
          <p:cNvSpPr txBox="1"/>
          <p:nvPr/>
        </p:nvSpPr>
        <p:spPr>
          <a:xfrm>
            <a:off x="411479" y="3388359"/>
            <a:ext cx="2377442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8B00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✅ ALERT: Malicious Pattern Detected</a:t>
            </a:r>
          </a:p>
        </p:txBody>
      </p:sp>
      <p:sp>
        <p:nvSpPr>
          <p:cNvPr id="192" name="Shape 12"/>
          <p:cNvSpPr/>
          <p:nvPr/>
        </p:nvSpPr>
        <p:spPr>
          <a:xfrm>
            <a:off x="3172967" y="914400"/>
            <a:ext cx="2834641" cy="40690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E0B0C0"/>
            </a:solidFill>
          </a:ln>
          <a:effectLst>
            <a:outerShdw sx="100000" sy="100000" kx="0" ky="0" algn="b" rotWithShape="0" blurRad="76200" dist="25400" dir="2700000">
              <a:srgbClr val="000000">
                <a:alpha val="13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" name="Shape 13"/>
          <p:cNvSpPr/>
          <p:nvPr/>
        </p:nvSpPr>
        <p:spPr>
          <a:xfrm>
            <a:off x="3218688" y="914400"/>
            <a:ext cx="2743201" cy="457200"/>
          </a:xfrm>
          <a:prstGeom prst="roundRect">
            <a:avLst>
              <a:gd name="adj" fmla="val 16000"/>
            </a:avLst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14"/>
          <p:cNvSpPr txBox="1"/>
          <p:nvPr/>
        </p:nvSpPr>
        <p:spPr>
          <a:xfrm>
            <a:off x="3264408" y="970279"/>
            <a:ext cx="26517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🔑 Socket Lookup</a:t>
            </a:r>
          </a:p>
        </p:txBody>
      </p:sp>
      <p:sp>
        <p:nvSpPr>
          <p:cNvPr id="195" name="Text 15"/>
          <p:cNvSpPr txBox="1"/>
          <p:nvPr/>
        </p:nvSpPr>
        <p:spPr>
          <a:xfrm>
            <a:off x="3401567" y="1478202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7B1F3A"/>
                </a:solidFill>
              </a:defRPr>
            </a:lvl1pPr>
          </a:lstStyle>
          <a:p>
            <a:pPr/>
            <a:r>
              <a:t>Input:</a:t>
            </a:r>
          </a:p>
        </p:txBody>
      </p:sp>
      <p:sp>
        <p:nvSpPr>
          <p:cNvPr id="196" name="Shape 16"/>
          <p:cNvSpPr/>
          <p:nvPr/>
        </p:nvSpPr>
        <p:spPr>
          <a:xfrm>
            <a:off x="3310128" y="1737360"/>
            <a:ext cx="2560321" cy="1234440"/>
          </a:xfrm>
          <a:prstGeom prst="roundRect">
            <a:avLst>
              <a:gd name="adj" fmla="val 5185"/>
            </a:avLst>
          </a:prstGeom>
          <a:solidFill>
            <a:srgbClr val="F7F0F3"/>
          </a:solidFill>
          <a:ln w="12700">
            <a:solidFill>
              <a:srgbClr val="E0B0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7"/>
          <p:cNvSpPr txBox="1"/>
          <p:nvPr/>
        </p:nvSpPr>
        <p:spPr>
          <a:xfrm>
            <a:off x="3401567" y="2186432"/>
            <a:ext cx="23774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2D0A1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Register: socket 101 → "active"</a:t>
            </a:r>
          </a:p>
          <a:p>
            <a:pPr>
              <a:defRPr sz="900">
                <a:solidFill>
                  <a:srgbClr val="2D0A1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Query: socket 101</a:t>
            </a:r>
          </a:p>
        </p:txBody>
      </p:sp>
      <p:sp>
        <p:nvSpPr>
          <p:cNvPr id="198" name="Text 18"/>
          <p:cNvSpPr txBox="1"/>
          <p:nvPr/>
        </p:nvSpPr>
        <p:spPr>
          <a:xfrm>
            <a:off x="3401567" y="3050970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7B1F3A"/>
                </a:solidFill>
              </a:defRPr>
            </a:lvl1pPr>
          </a:lstStyle>
          <a:p>
            <a:pPr/>
            <a:r>
              <a:t>Output:</a:t>
            </a:r>
          </a:p>
        </p:txBody>
      </p:sp>
      <p:sp>
        <p:nvSpPr>
          <p:cNvPr id="199" name="Shape 19"/>
          <p:cNvSpPr/>
          <p:nvPr/>
        </p:nvSpPr>
        <p:spPr>
          <a:xfrm>
            <a:off x="3310128" y="3319271"/>
            <a:ext cx="2560321" cy="594361"/>
          </a:xfrm>
          <a:prstGeom prst="roundRect">
            <a:avLst>
              <a:gd name="adj" fmla="val 10769"/>
            </a:avLst>
          </a:prstGeom>
          <a:solidFill>
            <a:srgbClr val="FDEEF2"/>
          </a:solidFill>
          <a:ln w="12700">
            <a:solidFill>
              <a:srgbClr val="D474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20"/>
          <p:cNvSpPr txBox="1"/>
          <p:nvPr/>
        </p:nvSpPr>
        <p:spPr>
          <a:xfrm>
            <a:off x="3401567" y="3458209"/>
            <a:ext cx="237744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1B5E2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✅ Status = active</a:t>
            </a:r>
          </a:p>
        </p:txBody>
      </p:sp>
      <p:sp>
        <p:nvSpPr>
          <p:cNvPr id="201" name="Shape 22"/>
          <p:cNvSpPr/>
          <p:nvPr/>
        </p:nvSpPr>
        <p:spPr>
          <a:xfrm>
            <a:off x="6163055" y="914400"/>
            <a:ext cx="2834641" cy="40690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E0B0C0"/>
            </a:solidFill>
          </a:ln>
          <a:effectLst>
            <a:outerShdw sx="100000" sy="100000" kx="0" ky="0" algn="b" rotWithShape="0" blurRad="76200" dist="25400" dir="2700000">
              <a:srgbClr val="000000">
                <a:alpha val="13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" name="Shape 23"/>
          <p:cNvSpPr/>
          <p:nvPr/>
        </p:nvSpPr>
        <p:spPr>
          <a:xfrm>
            <a:off x="6208776" y="914400"/>
            <a:ext cx="2743201" cy="457200"/>
          </a:xfrm>
          <a:prstGeom prst="roundRect">
            <a:avLst>
              <a:gd name="adj" fmla="val 16000"/>
            </a:avLst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24"/>
          <p:cNvSpPr txBox="1"/>
          <p:nvPr/>
        </p:nvSpPr>
        <p:spPr>
          <a:xfrm>
            <a:off x="6254496" y="970279"/>
            <a:ext cx="26517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🗺️ Validation Path (BFS)</a:t>
            </a:r>
          </a:p>
        </p:txBody>
      </p:sp>
      <p:sp>
        <p:nvSpPr>
          <p:cNvPr id="204" name="Text 25"/>
          <p:cNvSpPr txBox="1"/>
          <p:nvPr/>
        </p:nvSpPr>
        <p:spPr>
          <a:xfrm>
            <a:off x="6391655" y="1478202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7B1F3A"/>
                </a:solidFill>
              </a:defRPr>
            </a:lvl1pPr>
          </a:lstStyle>
          <a:p>
            <a:pPr/>
            <a:r>
              <a:t>Input:</a:t>
            </a:r>
          </a:p>
        </p:txBody>
      </p:sp>
      <p:sp>
        <p:nvSpPr>
          <p:cNvPr id="205" name="Shape 26"/>
          <p:cNvSpPr/>
          <p:nvPr/>
        </p:nvSpPr>
        <p:spPr>
          <a:xfrm>
            <a:off x="6300215" y="1737360"/>
            <a:ext cx="2560321" cy="1234440"/>
          </a:xfrm>
          <a:prstGeom prst="roundRect">
            <a:avLst>
              <a:gd name="adj" fmla="val 5185"/>
            </a:avLst>
          </a:prstGeom>
          <a:solidFill>
            <a:srgbClr val="F7F0F3"/>
          </a:solidFill>
          <a:ln w="12700">
            <a:solidFill>
              <a:srgbClr val="E0B0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27"/>
          <p:cNvSpPr txBox="1"/>
          <p:nvPr/>
        </p:nvSpPr>
        <p:spPr>
          <a:xfrm>
            <a:off x="6391655" y="2186432"/>
            <a:ext cx="23774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2D0A1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Graph: 0→1→2→3→4</a:t>
            </a:r>
          </a:p>
          <a:p>
            <a:pPr>
              <a:defRPr sz="900">
                <a:solidFill>
                  <a:srgbClr val="2D0A1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Find shortest path: 0 to 4</a:t>
            </a:r>
          </a:p>
        </p:txBody>
      </p:sp>
      <p:sp>
        <p:nvSpPr>
          <p:cNvPr id="207" name="Text 28"/>
          <p:cNvSpPr txBox="1"/>
          <p:nvPr/>
        </p:nvSpPr>
        <p:spPr>
          <a:xfrm>
            <a:off x="6391655" y="3050970"/>
            <a:ext cx="23774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7B1F3A"/>
                </a:solidFill>
              </a:defRPr>
            </a:lvl1pPr>
          </a:lstStyle>
          <a:p>
            <a:pPr/>
            <a:r>
              <a:t>Output:</a:t>
            </a:r>
          </a:p>
        </p:txBody>
      </p:sp>
      <p:sp>
        <p:nvSpPr>
          <p:cNvPr id="208" name="Shape 29"/>
          <p:cNvSpPr/>
          <p:nvPr/>
        </p:nvSpPr>
        <p:spPr>
          <a:xfrm>
            <a:off x="6300215" y="3319271"/>
            <a:ext cx="2560321" cy="594361"/>
          </a:xfrm>
          <a:prstGeom prst="roundRect">
            <a:avLst>
              <a:gd name="adj" fmla="val 10769"/>
            </a:avLst>
          </a:prstGeom>
          <a:solidFill>
            <a:srgbClr val="FDEEF2"/>
          </a:solidFill>
          <a:ln w="12700">
            <a:solidFill>
              <a:srgbClr val="D4748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30"/>
          <p:cNvSpPr txBox="1"/>
          <p:nvPr/>
        </p:nvSpPr>
        <p:spPr>
          <a:xfrm>
            <a:off x="6391655" y="3458209"/>
            <a:ext cx="237744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1A237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✅ Path: 0 → 1 → 2 → 3 → 4</a:t>
            </a:r>
          </a:p>
        </p:txBody>
      </p:sp>
      <p:sp>
        <p:nvSpPr>
          <p:cNvPr id="210" name="Text 31"/>
          <p:cNvSpPr txBox="1"/>
          <p:nvPr/>
        </p:nvSpPr>
        <p:spPr>
          <a:xfrm>
            <a:off x="3993674" y="184149"/>
            <a:ext cx="246888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Run: g++ FireGuard.cpp -o FireGuard &amp;&amp; ./FireGuard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4A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-1"/>
            <a:ext cx="9144000" cy="777242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1"/>
          <p:cNvSpPr txBox="1"/>
          <p:nvPr/>
        </p:nvSpPr>
        <p:spPr>
          <a:xfrm>
            <a:off x="320040" y="139700"/>
            <a:ext cx="722376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🏁  Conclusion</a:t>
            </a:r>
          </a:p>
        </p:txBody>
      </p:sp>
      <p:sp>
        <p:nvSpPr>
          <p:cNvPr id="214" name="Text 2"/>
          <p:cNvSpPr txBox="1"/>
          <p:nvPr/>
        </p:nvSpPr>
        <p:spPr>
          <a:xfrm>
            <a:off x="502919" y="934020"/>
            <a:ext cx="8138162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400">
                <a:solidFill>
                  <a:srgbClr val="E8C0CF"/>
                </a:solidFill>
              </a:defRPr>
            </a:lvl1pPr>
          </a:lstStyle>
          <a:p>
            <a:pPr/>
            <a:r>
              <a:t>FireGuard successfully demonstrates how Data Structures &amp; Algorithms solve real-world cybersecurity challenges.</a:t>
            </a:r>
          </a:p>
        </p:txBody>
      </p:sp>
      <p:sp>
        <p:nvSpPr>
          <p:cNvPr id="215" name="Shape 3"/>
          <p:cNvSpPr/>
          <p:nvPr/>
        </p:nvSpPr>
        <p:spPr>
          <a:xfrm>
            <a:off x="365759" y="1600200"/>
            <a:ext cx="8412482" cy="530352"/>
          </a:xfrm>
          <a:prstGeom prst="roundRect">
            <a:avLst>
              <a:gd name="adj" fmla="val 13793"/>
            </a:avLst>
          </a:prstGeom>
          <a:solidFill>
            <a:srgbClr val="5C1228"/>
          </a:solidFill>
          <a:ln w="10160">
            <a:solidFill>
              <a:srgbClr val="D4748C"/>
            </a:solidFill>
          </a:ln>
          <a:effectLst>
            <a:outerShdw sx="100000" sy="100000" kx="0" ky="0" algn="b" rotWithShape="0" blurRad="50800" dist="12700" dir="27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" name="Text 4"/>
          <p:cNvSpPr txBox="1"/>
          <p:nvPr/>
        </p:nvSpPr>
        <p:spPr>
          <a:xfrm>
            <a:off x="502919" y="1654555"/>
            <a:ext cx="36576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</a:t>
            </a:r>
          </a:p>
        </p:txBody>
      </p:sp>
      <p:sp>
        <p:nvSpPr>
          <p:cNvPr id="217" name="Text 5"/>
          <p:cNvSpPr txBox="1"/>
          <p:nvPr/>
        </p:nvSpPr>
        <p:spPr>
          <a:xfrm>
            <a:off x="960120" y="1752522"/>
            <a:ext cx="75895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Trie enables near-instant malicious pattern detection across thousands of signatures</a:t>
            </a:r>
          </a:p>
        </p:txBody>
      </p:sp>
      <p:sp>
        <p:nvSpPr>
          <p:cNvPr id="218" name="Shape 6"/>
          <p:cNvSpPr/>
          <p:nvPr/>
        </p:nvSpPr>
        <p:spPr>
          <a:xfrm>
            <a:off x="365759" y="2240279"/>
            <a:ext cx="8412482" cy="530353"/>
          </a:xfrm>
          <a:prstGeom prst="roundRect">
            <a:avLst>
              <a:gd name="adj" fmla="val 13793"/>
            </a:avLst>
          </a:prstGeom>
          <a:solidFill>
            <a:srgbClr val="5C1228">
              <a:alpha val="80000"/>
            </a:srgbClr>
          </a:solidFill>
          <a:ln w="10160">
            <a:solidFill>
              <a:srgbClr val="D4748C"/>
            </a:solidFill>
          </a:ln>
          <a:effectLst>
            <a:outerShdw sx="100000" sy="100000" kx="0" ky="0" algn="b" rotWithShape="0" blurRad="50800" dist="12700" dir="27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" name="Text 7"/>
          <p:cNvSpPr txBox="1"/>
          <p:nvPr/>
        </p:nvSpPr>
        <p:spPr>
          <a:xfrm>
            <a:off x="502919" y="2294635"/>
            <a:ext cx="36576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</a:t>
            </a:r>
          </a:p>
        </p:txBody>
      </p:sp>
      <p:sp>
        <p:nvSpPr>
          <p:cNvPr id="220" name="Text 8"/>
          <p:cNvSpPr txBox="1"/>
          <p:nvPr/>
        </p:nvSpPr>
        <p:spPr>
          <a:xfrm>
            <a:off x="960120" y="2392602"/>
            <a:ext cx="75895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Queue + Stack ensure ordered, auditable packet processing with full undo capability</a:t>
            </a:r>
          </a:p>
        </p:txBody>
      </p:sp>
      <p:sp>
        <p:nvSpPr>
          <p:cNvPr id="221" name="Shape 9"/>
          <p:cNvSpPr/>
          <p:nvPr/>
        </p:nvSpPr>
        <p:spPr>
          <a:xfrm>
            <a:off x="365759" y="2880360"/>
            <a:ext cx="8412482" cy="530353"/>
          </a:xfrm>
          <a:prstGeom prst="roundRect">
            <a:avLst>
              <a:gd name="adj" fmla="val 13793"/>
            </a:avLst>
          </a:prstGeom>
          <a:solidFill>
            <a:srgbClr val="5C1228"/>
          </a:solidFill>
          <a:ln w="10160">
            <a:solidFill>
              <a:srgbClr val="D4748C"/>
            </a:solidFill>
          </a:ln>
          <a:effectLst>
            <a:outerShdw sx="100000" sy="100000" kx="0" ky="0" algn="b" rotWithShape="0" blurRad="50800" dist="12700" dir="27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" name="Text 10"/>
          <p:cNvSpPr txBox="1"/>
          <p:nvPr/>
        </p:nvSpPr>
        <p:spPr>
          <a:xfrm>
            <a:off x="502919" y="2934716"/>
            <a:ext cx="36576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</a:t>
            </a:r>
          </a:p>
        </p:txBody>
      </p:sp>
      <p:sp>
        <p:nvSpPr>
          <p:cNvPr id="223" name="Text 11"/>
          <p:cNvSpPr txBox="1"/>
          <p:nvPr/>
        </p:nvSpPr>
        <p:spPr>
          <a:xfrm>
            <a:off x="960120" y="3032682"/>
            <a:ext cx="75895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Hash Map delivers O(1) socket lookup regardless of connection volume</a:t>
            </a:r>
          </a:p>
        </p:txBody>
      </p:sp>
      <p:sp>
        <p:nvSpPr>
          <p:cNvPr id="224" name="Shape 12"/>
          <p:cNvSpPr/>
          <p:nvPr/>
        </p:nvSpPr>
        <p:spPr>
          <a:xfrm>
            <a:off x="365759" y="3520440"/>
            <a:ext cx="8412482" cy="530353"/>
          </a:xfrm>
          <a:prstGeom prst="roundRect">
            <a:avLst>
              <a:gd name="adj" fmla="val 13793"/>
            </a:avLst>
          </a:prstGeom>
          <a:solidFill>
            <a:srgbClr val="5C1228">
              <a:alpha val="80000"/>
            </a:srgbClr>
          </a:solidFill>
          <a:ln w="10160">
            <a:solidFill>
              <a:srgbClr val="D4748C"/>
            </a:solidFill>
          </a:ln>
          <a:effectLst>
            <a:outerShdw sx="100000" sy="100000" kx="0" ky="0" algn="b" rotWithShape="0" blurRad="50800" dist="12700" dir="27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" name="Text 13"/>
          <p:cNvSpPr txBox="1"/>
          <p:nvPr/>
        </p:nvSpPr>
        <p:spPr>
          <a:xfrm>
            <a:off x="502919" y="3574796"/>
            <a:ext cx="36576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</a:t>
            </a:r>
          </a:p>
        </p:txBody>
      </p:sp>
      <p:sp>
        <p:nvSpPr>
          <p:cNvPr id="226" name="Text 14"/>
          <p:cNvSpPr txBox="1"/>
          <p:nvPr/>
        </p:nvSpPr>
        <p:spPr>
          <a:xfrm>
            <a:off x="960120" y="3672762"/>
            <a:ext cx="758952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Max Heap + Min Heap intelligently prioritise flows and balance server workload</a:t>
            </a:r>
          </a:p>
        </p:txBody>
      </p:sp>
      <p:sp>
        <p:nvSpPr>
          <p:cNvPr id="227" name="Shape 15"/>
          <p:cNvSpPr/>
          <p:nvPr/>
        </p:nvSpPr>
        <p:spPr>
          <a:xfrm>
            <a:off x="365759" y="4160520"/>
            <a:ext cx="8412482" cy="530353"/>
          </a:xfrm>
          <a:prstGeom prst="roundRect">
            <a:avLst>
              <a:gd name="adj" fmla="val 13793"/>
            </a:avLst>
          </a:prstGeom>
          <a:solidFill>
            <a:srgbClr val="5C1228"/>
          </a:solidFill>
          <a:ln w="10160">
            <a:solidFill>
              <a:srgbClr val="D4748C"/>
            </a:solidFill>
          </a:ln>
          <a:effectLst>
            <a:outerShdw sx="100000" sy="100000" kx="0" ky="0" algn="b" rotWithShape="0" blurRad="50800" dist="12700" dir="2700000">
              <a:srgbClr val="000000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" name="Text 16"/>
          <p:cNvSpPr txBox="1"/>
          <p:nvPr/>
        </p:nvSpPr>
        <p:spPr>
          <a:xfrm>
            <a:off x="502919" y="4214876"/>
            <a:ext cx="36576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</a:t>
            </a:r>
          </a:p>
        </p:txBody>
      </p:sp>
      <p:sp>
        <p:nvSpPr>
          <p:cNvPr id="229" name="Text 17"/>
          <p:cNvSpPr txBox="1"/>
          <p:nvPr/>
        </p:nvSpPr>
        <p:spPr>
          <a:xfrm>
            <a:off x="960120" y="4312842"/>
            <a:ext cx="758952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Graph + BFS provides structural firewall mapping and shortest bypass route tracing</a:t>
            </a:r>
          </a:p>
        </p:txBody>
      </p:sp>
      <p:sp>
        <p:nvSpPr>
          <p:cNvPr id="230" name="Text 18"/>
          <p:cNvSpPr txBox="1"/>
          <p:nvPr/>
        </p:nvSpPr>
        <p:spPr>
          <a:xfrm>
            <a:off x="320040" y="4798227"/>
            <a:ext cx="850392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C89AAF"/>
                </a:solidFill>
              </a:defRPr>
            </a:lvl1pPr>
          </a:lstStyle>
          <a:p>
            <a:pPr/>
            <a:r>
              <a:t>Akhila Anish Das  |  Roll: 150096725016  |  ITM Skills University  |  DSA with C++ — Semester II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